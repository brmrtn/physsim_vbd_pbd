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93" r:id="rId2"/>
    <p:sldId id="294" r:id="rId3"/>
    <p:sldId id="295" r:id="rId4"/>
    <p:sldId id="296" r:id="rId5"/>
    <p:sldId id="300" r:id="rId6"/>
    <p:sldId id="290" r:id="rId7"/>
    <p:sldId id="291" r:id="rId8"/>
    <p:sldId id="289" r:id="rId9"/>
    <p:sldId id="287" r:id="rId10"/>
    <p:sldId id="297" r:id="rId11"/>
    <p:sldId id="286" r:id="rId12"/>
    <p:sldId id="298" r:id="rId13"/>
    <p:sldId id="288" r:id="rId14"/>
    <p:sldId id="28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C0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5813" autoAdjust="0"/>
  </p:normalViewPr>
  <p:slideViewPr>
    <p:cSldViewPr snapToGrid="0" snapToObjects="1">
      <p:cViewPr varScale="1">
        <p:scale>
          <a:sx n="84" d="100"/>
          <a:sy n="84" d="100"/>
        </p:scale>
        <p:origin x="1092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53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0" dirty="0">
                <a:effectLst/>
              </a:rPr>
              <a:t>Szakdolgozatomban </a:t>
            </a:r>
            <a:r>
              <a:rPr lang="hu-HU" b="0" dirty="0" err="1">
                <a:effectLst/>
              </a:rPr>
              <a:t>Valósidejű</a:t>
            </a:r>
            <a:r>
              <a:rPr lang="hu-HU" b="0" dirty="0">
                <a:effectLst/>
              </a:rPr>
              <a:t> fizikai szimulációk algoritmusaival foglalkoztam;</a:t>
            </a:r>
            <a:br>
              <a:rPr lang="hu-HU" b="0" dirty="0">
                <a:effectLst/>
              </a:rPr>
            </a:br>
            <a:r>
              <a:rPr lang="hu-HU" b="0" dirty="0">
                <a:effectLst/>
              </a:rPr>
              <a:t>Pontosabban az </a:t>
            </a:r>
            <a:r>
              <a:rPr lang="hu-HU" b="0" dirty="0" err="1">
                <a:effectLst/>
              </a:rPr>
              <a:t>Extended</a:t>
            </a:r>
            <a:r>
              <a:rPr lang="hu-HU" b="0" dirty="0">
                <a:effectLst/>
              </a:rPr>
              <a:t> </a:t>
            </a:r>
            <a:r>
              <a:rPr lang="hu-HU" b="0" dirty="0" err="1">
                <a:effectLst/>
              </a:rPr>
              <a:t>Position</a:t>
            </a:r>
            <a:r>
              <a:rPr lang="hu-HU" b="0" dirty="0">
                <a:effectLst/>
              </a:rPr>
              <a:t> </a:t>
            </a:r>
            <a:r>
              <a:rPr lang="hu-HU" b="0" dirty="0" err="1">
                <a:effectLst/>
              </a:rPr>
              <a:t>Based</a:t>
            </a:r>
            <a:r>
              <a:rPr lang="hu-HU" b="0" dirty="0">
                <a:effectLst/>
              </a:rPr>
              <a:t> Dynamics és a </a:t>
            </a:r>
            <a:r>
              <a:rPr lang="hu-HU" b="0" dirty="0" err="1">
                <a:effectLst/>
              </a:rPr>
              <a:t>Vertex</a:t>
            </a:r>
            <a:r>
              <a:rPr lang="hu-HU" b="0" dirty="0">
                <a:effectLst/>
              </a:rPr>
              <a:t> </a:t>
            </a:r>
            <a:r>
              <a:rPr lang="hu-HU" b="0" dirty="0" err="1">
                <a:effectLst/>
              </a:rPr>
              <a:t>Block</a:t>
            </a:r>
            <a:r>
              <a:rPr lang="hu-HU" b="0" dirty="0">
                <a:effectLst/>
              </a:rPr>
              <a:t> </a:t>
            </a:r>
            <a:r>
              <a:rPr lang="hu-HU" b="0" dirty="0" err="1">
                <a:effectLst/>
              </a:rPr>
              <a:t>Descent</a:t>
            </a:r>
            <a:r>
              <a:rPr lang="hu-HU" b="0" dirty="0">
                <a:effectLst/>
              </a:rPr>
              <a:t> metódusokat hasonlítottam össze deformálható testek (az én esetemben ruhaanyag és lánc) szimulálásával.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 err="1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Miért</a:t>
            </a:r>
            <a:r>
              <a:rPr lang="en-US" sz="1200" b="0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b="0" dirty="0" err="1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nehéz</a:t>
            </a:r>
            <a:r>
              <a:rPr lang="en-US" sz="1200" b="0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</a:t>
            </a:r>
            <a:r>
              <a:rPr lang="en-US" sz="1200" b="0" dirty="0" err="1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valós</a:t>
            </a:r>
            <a:r>
              <a:rPr lang="en-US" sz="1200" b="0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b="0" dirty="0" err="1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idejű</a:t>
            </a:r>
            <a:r>
              <a:rPr lang="en-US" sz="1200" b="0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b="0" dirty="0" err="1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szimuláció</a:t>
            </a:r>
            <a:r>
              <a:rPr lang="en-US" sz="1200" b="0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2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b="0" dirty="0"/>
              <a:t>A szimulátornak szigorú időkorlát mellett kell hihető dinamikát szolgáltatnia. 60 másodperc alatt nagyjából 16 </a:t>
            </a:r>
            <a:r>
              <a:rPr lang="hu-HU" b="0" dirty="0" err="1"/>
              <a:t>ms</a:t>
            </a:r>
            <a:r>
              <a:rPr lang="hu-HU" b="0" dirty="0"/>
              <a:t> jut egy képkockára, és a fizikai számítások ennek csak egy töredékét foglalhatják 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b="0" dirty="0"/>
              <a:t>Összehasonlítás alapjául a deformálható testek szimulálását választottam, mivel a nagyobb szabadságfok és a jelentősen nagyobb számú kényszerek jobban stresszelik a </a:t>
            </a:r>
            <a:r>
              <a:rPr lang="hu-HU" b="0" dirty="0" err="1"/>
              <a:t>solvereket</a:t>
            </a:r>
            <a:r>
              <a:rPr lang="hu-HU" b="0" dirty="0"/>
              <a:t>: Emiatt a módszerek </a:t>
            </a:r>
            <a:r>
              <a:rPr lang="hu-HU" b="0" dirty="0" err="1"/>
              <a:t>skálázódása</a:t>
            </a:r>
            <a:r>
              <a:rPr lang="hu-HU" b="0" dirty="0"/>
              <a:t> és hibája is könnyebben szemrevételezhető.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b="0" dirty="0"/>
              <a:t>Az utolsó nehézség pedig, hogy az esetek nagy részében szeretnénk valósághűek maradni.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hu-HU" b="0" dirty="0"/>
              <a:t>Ez azt eredményezi, hogy egy </a:t>
            </a:r>
            <a:r>
              <a:rPr lang="hu-HU" b="0" dirty="0" err="1"/>
              <a:t>solver</a:t>
            </a:r>
            <a:r>
              <a:rPr lang="hu-HU" b="0" dirty="0"/>
              <a:t> valójában egy pontosság és hatékonyság közti kompromisszum is.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hu-HU" b="0" dirty="0"/>
              <a:t>Az általam vizsgált két metódus a spektrum közepén helyezkedik el, mindkettő </a:t>
            </a:r>
            <a:r>
              <a:rPr lang="hu-HU" b="0" dirty="0" err="1"/>
              <a:t>real-time</a:t>
            </a:r>
            <a:r>
              <a:rPr lang="hu-HU" b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u-HU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b="0" dirty="0"/>
              <a:t>(Legfelül a </a:t>
            </a:r>
            <a:r>
              <a:rPr lang="hu-HU" b="0" dirty="0" err="1"/>
              <a:t>Finite</a:t>
            </a:r>
            <a:r>
              <a:rPr lang="hu-HU" b="0" dirty="0"/>
              <a:t> </a:t>
            </a:r>
            <a:r>
              <a:rPr lang="hu-HU" b="0" dirty="0" err="1"/>
              <a:t>Element</a:t>
            </a:r>
            <a:r>
              <a:rPr lang="hu-HU" b="0" dirty="0"/>
              <a:t> </a:t>
            </a:r>
            <a:r>
              <a:rPr lang="hu-HU" b="0" dirty="0" err="1"/>
              <a:t>Method</a:t>
            </a:r>
            <a:r>
              <a:rPr lang="hu-HU" b="0" dirty="0"/>
              <a:t> helyezkedik el, ami nagyon pontos, de futásideje akár órákba vagy napokba is </a:t>
            </a:r>
            <a:r>
              <a:rPr lang="hu-HU" b="0" dirty="0" err="1"/>
              <a:t>tellhet</a:t>
            </a:r>
            <a:r>
              <a:rPr lang="hu-HU" b="0" dirty="0"/>
              <a:t>, míg a spektrum másik végén a </a:t>
            </a:r>
            <a:r>
              <a:rPr lang="hu-HU" b="0" dirty="0" err="1"/>
              <a:t>Mass</a:t>
            </a:r>
            <a:r>
              <a:rPr lang="hu-HU" b="0" dirty="0"/>
              <a:t> Spring System </a:t>
            </a:r>
            <a:r>
              <a:rPr lang="hu-HU" b="0" dirty="0" err="1"/>
              <a:t>solver</a:t>
            </a:r>
            <a:r>
              <a:rPr lang="hu-HU" b="0" dirty="0"/>
              <a:t> van, ami direkt számolási módszere miatt nagyon gyors, de cserébe instabil.)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Míg a XPBD mára már a valós idejű lágy test </a:t>
            </a:r>
            <a:r>
              <a:rPr lang="hu-HU" dirty="0" err="1"/>
              <a:t>solverek</a:t>
            </a:r>
            <a:r>
              <a:rPr lang="hu-HU" dirty="0"/>
              <a:t> egyik legelterjedtebb változata, addig a VBD egy viszonylag friss, 2024-es megoldás.</a:t>
            </a:r>
          </a:p>
          <a:p>
            <a:r>
              <a:rPr lang="hu-HU" dirty="0"/>
              <a:t>Szakdolgozatom célja a kettő </a:t>
            </a:r>
            <a:r>
              <a:rPr lang="hu-HU" dirty="0" err="1"/>
              <a:t>solver</a:t>
            </a:r>
            <a:r>
              <a:rPr lang="hu-HU" dirty="0"/>
              <a:t> eredeti cikkekhez hű összehasonlítása.</a:t>
            </a:r>
          </a:p>
          <a:p>
            <a:r>
              <a:rPr lang="hu-HU" dirty="0"/>
              <a:t>Ehhez mindkét </a:t>
            </a:r>
            <a:r>
              <a:rPr lang="hu-HU" dirty="0" err="1"/>
              <a:t>solvert</a:t>
            </a:r>
            <a:r>
              <a:rPr lang="hu-HU" dirty="0"/>
              <a:t> ugyanabban a környezetben, ugyanarra a modellre alkalmaztam;</a:t>
            </a:r>
          </a:p>
          <a:p>
            <a:r>
              <a:rPr lang="hu-HU" dirty="0" err="1"/>
              <a:t>Substep</a:t>
            </a:r>
            <a:r>
              <a:rPr lang="hu-HU" dirty="0"/>
              <a:t>-, és iterációszámukat korrigálva a CPU-idejük alapján hasonlítottam össze a költségeiket;</a:t>
            </a:r>
          </a:p>
          <a:p>
            <a:r>
              <a:rPr lang="hu-HU" dirty="0"/>
              <a:t>Az eredményeket newton referenciához is mérem, így nem csak relatív teljesítményt, de abszolút hibát is tudok mérni.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(Míg az XPBD egy adott pontot az </a:t>
            </a:r>
            <a:r>
              <a:rPr lang="hu-HU" dirty="0" err="1"/>
              <a:t>inertial</a:t>
            </a:r>
            <a:r>
              <a:rPr lang="hu-HU" dirty="0"/>
              <a:t> </a:t>
            </a:r>
            <a:r>
              <a:rPr lang="hu-HU" dirty="0" err="1"/>
              <a:t>target-hez</a:t>
            </a:r>
            <a:r>
              <a:rPr lang="hu-HU" dirty="0"/>
              <a:t> legközelebbi, kényszereket kielégítő pontba ránt, addig a VBD tisztán optimalizálás alapú.)</a:t>
            </a:r>
          </a:p>
          <a:p>
            <a:r>
              <a:rPr lang="hu-HU" dirty="0"/>
              <a:t>Bár az algoritmusok megközelítése a problémák megoldására különbözik, matematikailag mindkét metódus az implicit Euler ugyanazon variációs formáját minimalizálja.</a:t>
            </a:r>
          </a:p>
          <a:p>
            <a:r>
              <a:rPr lang="hu-HU" dirty="0"/>
              <a:t>Míg a VBD közvetlenül a pozíciókra keresi a </a:t>
            </a:r>
            <a:r>
              <a:rPr lang="hu-HU" dirty="0" err="1"/>
              <a:t>minimumhelyet</a:t>
            </a:r>
            <a:r>
              <a:rPr lang="hu-HU" dirty="0"/>
              <a:t>, addig az XPBD a megkötésekhez tartozó lambda-szorzókkal számol. (Ezek adják meg az erőnagyságot, amivel a pozíciókat korrigálni kell).</a:t>
            </a:r>
          </a:p>
          <a:p>
            <a:r>
              <a:rPr lang="hu-HU" dirty="0"/>
              <a:t>Ennek megfelelően az állapot frissítéséhez a VBD a csúcsokon, míg az XPBD a kényszereken megy végig sorban.</a:t>
            </a:r>
          </a:p>
          <a:p>
            <a:r>
              <a:rPr lang="hu-HU" dirty="0"/>
              <a:t>Így az elméleti jóslat az, hogy az XPBD rosszul kondicionált tömegek, a VBD pedig rosszul kondicionált rugómerevségek esetén fog elbukni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fair összehasonlítással kapcsolatban már említettem a közös kódbázist, és hogy egy harmadik Newton </a:t>
            </a:r>
            <a:r>
              <a:rPr lang="hu-HU" dirty="0" err="1"/>
              <a:t>solvert</a:t>
            </a:r>
            <a:r>
              <a:rPr lang="hu-HU" dirty="0"/>
              <a:t> használok referenciának.</a:t>
            </a:r>
          </a:p>
          <a:p>
            <a:r>
              <a:rPr lang="hu-HU" dirty="0"/>
              <a:t>Ezek mellett természetesen mind a szimuláció paramétereit, mind az anyagparamétereket összeegyeztettem, így minden észlelhető különbség kizárólag a </a:t>
            </a:r>
            <a:r>
              <a:rPr lang="hu-HU" dirty="0" err="1"/>
              <a:t>solverek</a:t>
            </a:r>
            <a:r>
              <a:rPr lang="hu-HU" dirty="0"/>
              <a:t> algoritmusából származik.</a:t>
            </a:r>
          </a:p>
          <a:p>
            <a:r>
              <a:rPr lang="hu-HU" dirty="0"/>
              <a:t>És a szimulációk kizárólag CPU-n, egyszálú környezetben futnak.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két módszert négy szempont alapján értékeltem ki. Ezek közül első a hatékonyság, vagyis a számítási költség.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két algoritmus minden </a:t>
            </a:r>
            <a:r>
              <a:rPr lang="hu-HU" dirty="0" err="1"/>
              <a:t>substep</a:t>
            </a:r>
            <a:r>
              <a:rPr lang="hu-HU" dirty="0"/>
              <a:t>-iteráció kombinációján átmentem 1 és 32 között, és </a:t>
            </a:r>
            <a:r>
              <a:rPr lang="hu-HU" dirty="0" err="1"/>
              <a:t>kiplotoltam</a:t>
            </a:r>
            <a:r>
              <a:rPr lang="hu-HU" dirty="0"/>
              <a:t> a legjobb eredményeket.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(Ezek az origóhoz legközelebbi eredmények, vagyis azok, amik az összes futtatás közül a leggyorsabbak és a Newton referenciához a legkisebb hibát érik el.)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legfontosabb megfigyelések az alábbiak: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VBD-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iteráció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mindig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közelebb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kerül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Newton-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megoldáshoz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mint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XPBD-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iteráció</a:t>
            </a:r>
            <a:r>
              <a:rPr lang="hu-HU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cserébe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drágább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sz="1200" dirty="0">
              <a:solidFill>
                <a:srgbClr val="1E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Nehéz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részfeladatnál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dt,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kevés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substep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 VBD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</a:t>
            </a:r>
            <a:r>
              <a:rPr lang="hu-HU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mivel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másodrendű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információ</a:t>
            </a:r>
            <a:r>
              <a:rPr lang="hu-HU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felhasznál. (második derivált, Hesse mátrix)</a:t>
            </a: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Ahogy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substep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finomodik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részfeladatok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könnyűvé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válnak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olcsóbb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XPBD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veszi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hu-HU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vezetést.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Második szempontom a robusztusság:</a:t>
            </a:r>
            <a:br>
              <a:rPr lang="hu-HU" dirty="0"/>
            </a:br>
            <a:r>
              <a:rPr lang="hu-HU" dirty="0"/>
              <a:t>Balról jobbra a képeken: Newton, XPBD, VBD.</a:t>
            </a:r>
          </a:p>
          <a:p>
            <a:r>
              <a:rPr lang="hu-HU" dirty="0"/>
              <a:t>Tesztek futtatásával beigazolódott a már említett elmélet: az XPBD a nagy tömegarányoknál, a VBD a nagy merevségarányoknál bukik el.</a:t>
            </a:r>
          </a:p>
          <a:p>
            <a:r>
              <a:rPr lang="hu-HU" dirty="0"/>
              <a:t>Mivel az elmélettel megegyező eredményeket kapunk, ezek a stressztesztek az implementációm helyességét is igazolják.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Harmadik szempont a fizikai valósághűség, ahol egy szimpla harmonikus oszcillátor vizsgálatakor azt tapasztaltam, hogy a probléma egyszerűsége miatt mindkét módszer egy iteráció alatt konvergált a newton megoldáshoz, és azt tökéletesen követi.</a:t>
            </a:r>
          </a:p>
          <a:p>
            <a:r>
              <a:rPr lang="hu-HU" dirty="0"/>
              <a:t>A jobb oldali grafikonon pedig egy kicsit bonyolultabb rendszerben követtem le, hogy mennyire gyorsan veszik el az energia a rendszerből. Itt is látható, ahogy a kék VBD már egy iterációval is majdnem teljesen megközelíti a Newton megoldást, Míg az 1 iterációs XPBD nemhogy csak messzebb van a referenciától, de emellett nem is ugyanoda konvergál.</a:t>
            </a:r>
          </a:p>
          <a:p>
            <a:r>
              <a:rPr lang="hu-HU" dirty="0"/>
              <a:t>4 iterációval mindkét metódus konvergál a referenciához</a:t>
            </a:r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(A képen látható csillapítás mindkét esetben kizárólag az implicit Euler mellékhatása.)</a:t>
            </a:r>
            <a:br>
              <a:rPr lang="hu-HU" dirty="0"/>
            </a:br>
            <a:r>
              <a:rPr lang="hu-HU" dirty="0"/>
              <a:t>(fluktuációk abból adódnak, hogy a helyzeti és mozgási energia egymásba átváltódnak. A </a:t>
            </a:r>
            <a:r>
              <a:rPr lang="hu-HU" dirty="0" err="1"/>
              <a:t>solverek</a:t>
            </a:r>
            <a:r>
              <a:rPr lang="hu-HU" dirty="0"/>
              <a:t> pedig vagy alul, vagy felül lőnek a célon.)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utolsó szempont a rugalmasság.</a:t>
            </a:r>
          </a:p>
          <a:p>
            <a:r>
              <a:rPr lang="hu-HU" dirty="0"/>
              <a:t>Itt az első dolog amit vizsgáltam, hogy a rugók merevsége függ-e az iterációszámtól – hiszen ez egy ismert problémája például a PBD algoritmusnak.</a:t>
            </a:r>
          </a:p>
          <a:p>
            <a:r>
              <a:rPr lang="hu-HU" dirty="0"/>
              <a:t>Az eredmény, hogy iterációtól függetlenül mindkét módszer ugyanahhoz a merevséghez konvergál.</a:t>
            </a:r>
          </a:p>
          <a:p>
            <a:endParaRPr lang="hu-HU" dirty="0"/>
          </a:p>
          <a:p>
            <a:r>
              <a:rPr lang="hu-HU" dirty="0"/>
              <a:t>Egy másik ide sorolt szempont, pedig maga a tény, hogy az XPBD nagyon ismert, rengeteg környezetbe implementált módszer, így sokkal több problémára van már implementált, bevált megoldása.</a:t>
            </a:r>
          </a:p>
          <a:p>
            <a:r>
              <a:rPr lang="hu-HU" dirty="0"/>
              <a:t>Ezzel ellentétben viszont a még nem ilyen szinten </a:t>
            </a:r>
            <a:r>
              <a:rPr lang="hu-HU" dirty="0" err="1"/>
              <a:t>kiforrot</a:t>
            </a:r>
            <a:r>
              <a:rPr lang="hu-HU" dirty="0"/>
              <a:t> VBD-</a:t>
            </a:r>
            <a:r>
              <a:rPr lang="hu-HU" dirty="0" err="1"/>
              <a:t>nek</a:t>
            </a:r>
            <a:r>
              <a:rPr lang="hu-HU" dirty="0"/>
              <a:t> sokkal jobbak a párhuzamosítási lehetőségei, de erről majd a bírálói kérdéseknél is beszélek.</a:t>
            </a:r>
          </a:p>
          <a:p>
            <a:endParaRPr lang="hu-HU" dirty="0"/>
          </a:p>
          <a:p>
            <a:r>
              <a:rPr lang="hu-HU" dirty="0"/>
              <a:t>Szintén fontos megfigyelés, hogy másképp bukik el a két módszer: Ha az XPBD elromlik, akkor az anyag túlnyúlik, de az eredmény szemnek hihető marad. A VBD viszont vagy észrevehető </a:t>
            </a:r>
            <a:r>
              <a:rPr lang="hu-HU" dirty="0" err="1"/>
              <a:t>artifact-et</a:t>
            </a:r>
            <a:r>
              <a:rPr lang="hu-HU" dirty="0"/>
              <a:t> mutat vagy felrobban.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Összegezve tehát: mindkét </a:t>
            </a:r>
            <a:r>
              <a:rPr lang="hu-HU" dirty="0" err="1"/>
              <a:t>solver</a:t>
            </a:r>
            <a:r>
              <a:rPr lang="hu-HU" dirty="0"/>
              <a:t> más erősségekkel rendelkezik.</a:t>
            </a:r>
          </a:p>
          <a:p>
            <a:r>
              <a:rPr lang="hu-HU" dirty="0"/>
              <a:t>Míg a VBD egyes lépései gyorsabban konvergálnak, az algoritmus jobban kezeli a nagy tömegarányokat, és jobb párhuzamosítási lehetőségekkel rendelkezik,</a:t>
            </a:r>
            <a:br>
              <a:rPr lang="hu-HU" dirty="0"/>
            </a:br>
            <a:r>
              <a:rPr lang="hu-HU" dirty="0"/>
              <a:t>addig az XPBD egy könnyebben implementálható, már jól bevált megoldás, csomó problémához már létező implementációval, és ez a módszer a végtelenül merev kényszereket is jól kezeli.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Jövőbeli munkák közül a legfontosabbak pedig,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számolások párhuzamosítása, hiszen ez kedvezőbb eredményeket adhat a VBD-</a:t>
            </a:r>
            <a:r>
              <a:rPr lang="hu-HU" dirty="0" err="1"/>
              <a:t>nek</a:t>
            </a:r>
            <a:r>
              <a:rPr lang="hu-HU" dirty="0"/>
              <a:t> (pontszínezés egyszerűbb mint </a:t>
            </a:r>
            <a:r>
              <a:rPr lang="hu-HU" dirty="0" err="1"/>
              <a:t>constraint</a:t>
            </a:r>
            <a:r>
              <a:rPr lang="hu-HU" dirty="0"/>
              <a:t> színezés – egy pont átlagosan kevesebb szomszéddal rendelkezik -&gt; VBD több színt használ = kevesebb párhuzamosan futtatható blokk)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VBD-</a:t>
            </a:r>
            <a:r>
              <a:rPr lang="hu-HU" dirty="0" err="1"/>
              <a:t>nek</a:t>
            </a:r>
            <a:r>
              <a:rPr lang="hu-HU" dirty="0"/>
              <a:t> van egy továbbfejlesztése </a:t>
            </a:r>
            <a:r>
              <a:rPr lang="hu-HU" dirty="0" err="1"/>
              <a:t>Augmented</a:t>
            </a:r>
            <a:r>
              <a:rPr lang="hu-HU" dirty="0"/>
              <a:t> </a:t>
            </a:r>
            <a:r>
              <a:rPr lang="hu-HU" dirty="0" err="1"/>
              <a:t>Vertex</a:t>
            </a:r>
            <a:r>
              <a:rPr lang="hu-HU" dirty="0"/>
              <a:t> </a:t>
            </a:r>
            <a:r>
              <a:rPr lang="hu-HU" dirty="0" err="1"/>
              <a:t>Block</a:t>
            </a:r>
            <a:r>
              <a:rPr lang="hu-HU" dirty="0"/>
              <a:t> </a:t>
            </a:r>
            <a:r>
              <a:rPr lang="hu-HU" dirty="0" err="1"/>
              <a:t>Descent</a:t>
            </a:r>
            <a:r>
              <a:rPr lang="hu-HU" dirty="0"/>
              <a:t> néven, ami többek között az erősebb rugófeszességeket is jól kezeli. Ezt használva összehasonlításkor talán egy egyértelmű győztest kaptam volna.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Más dinamikai területek használata is további információval szolgálna: például </a:t>
            </a:r>
            <a:r>
              <a:rPr lang="hu-HU" dirty="0" err="1"/>
              <a:t>cloth</a:t>
            </a:r>
            <a:r>
              <a:rPr lang="hu-HU" dirty="0"/>
              <a:t> helyett </a:t>
            </a:r>
            <a:r>
              <a:rPr lang="hu-HU" dirty="0" err="1"/>
              <a:t>soft</a:t>
            </a:r>
            <a:r>
              <a:rPr lang="hu-HU" dirty="0"/>
              <a:t>-body </a:t>
            </a:r>
            <a:r>
              <a:rPr lang="hu-HU" dirty="0" err="1"/>
              <a:t>dynamics-ra</a:t>
            </a:r>
            <a:r>
              <a:rPr lang="hu-HU" dirty="0"/>
              <a:t>, vagy </a:t>
            </a:r>
            <a:r>
              <a:rPr lang="hu-HU" dirty="0" err="1"/>
              <a:t>rigid</a:t>
            </a:r>
            <a:r>
              <a:rPr lang="hu-HU" dirty="0"/>
              <a:t> body </a:t>
            </a:r>
            <a:r>
              <a:rPr lang="hu-HU" dirty="0" err="1"/>
              <a:t>dynamics-ra</a:t>
            </a:r>
            <a:r>
              <a:rPr lang="hu-HU" dirty="0"/>
              <a:t> alapozni, és megnézni, hogy az észrevételeim ezekre is fennállnak-e.</a:t>
            </a:r>
          </a:p>
          <a:p>
            <a:endParaRPr lang="hu-HU" dirty="0"/>
          </a:p>
          <a:p>
            <a:r>
              <a:rPr lang="hu-HU" dirty="0"/>
              <a:t>(Gauss-</a:t>
            </a:r>
            <a:r>
              <a:rPr lang="hu-HU" dirty="0" err="1"/>
              <a:t>Seidel</a:t>
            </a:r>
            <a:r>
              <a:rPr lang="hu-HU" dirty="0"/>
              <a:t> sorrend-függés – mindkét </a:t>
            </a:r>
            <a:r>
              <a:rPr lang="hu-HU" dirty="0" err="1"/>
              <a:t>solver</a:t>
            </a:r>
            <a:r>
              <a:rPr lang="hu-HU" dirty="0"/>
              <a:t> érzékeny rá)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Kérdés: 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Látja értelmét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Strain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Dynamics és a VBD kombinációjának?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Az egyik bírálói kérdésem az volt, hogy látom-e 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értelmét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Strain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Dynamics és a VBD kombinációjának.</a:t>
            </a:r>
          </a:p>
          <a:p>
            <a:r>
              <a:rPr lang="hu-HU" dirty="0"/>
              <a:t> </a:t>
            </a:r>
          </a:p>
          <a:p>
            <a:r>
              <a:rPr lang="hu-HU" dirty="0"/>
              <a:t>A </a:t>
            </a:r>
            <a:r>
              <a:rPr lang="hu-HU" dirty="0" err="1"/>
              <a:t>Strain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Dynamics egy eredetileg XPBD-vel kidolgozott energia-alapú módszer, ami az anyag deformálásához távolság kényszerek helyett a </a:t>
            </a:r>
            <a:r>
              <a:rPr lang="hu-HU" dirty="0" err="1"/>
              <a:t>Green</a:t>
            </a:r>
            <a:r>
              <a:rPr lang="hu-HU" dirty="0"/>
              <a:t> - </a:t>
            </a:r>
            <a:r>
              <a:rPr lang="hu-HU" dirty="0" err="1"/>
              <a:t>St</a:t>
            </a:r>
            <a:r>
              <a:rPr lang="hu-HU" dirty="0"/>
              <a:t> </a:t>
            </a:r>
            <a:r>
              <a:rPr lang="hu-HU" dirty="0" err="1"/>
              <a:t>Venant</a:t>
            </a:r>
            <a:r>
              <a:rPr lang="hu-HU" dirty="0"/>
              <a:t> [</a:t>
            </a:r>
            <a:r>
              <a:rPr lang="hu-HU" dirty="0" err="1"/>
              <a:t>grín</a:t>
            </a:r>
            <a:r>
              <a:rPr lang="hu-HU" dirty="0"/>
              <a:t>-szent </a:t>
            </a:r>
            <a:r>
              <a:rPr lang="hu-HU" dirty="0" err="1"/>
              <a:t>venan</a:t>
            </a:r>
            <a:r>
              <a:rPr lang="hu-HU" dirty="0"/>
              <a:t>] nevű alakváltozási </a:t>
            </a:r>
            <a:r>
              <a:rPr lang="hu-HU" dirty="0" err="1"/>
              <a:t>tenzort</a:t>
            </a:r>
            <a:r>
              <a:rPr lang="hu-HU" dirty="0"/>
              <a:t> használja.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kérdésre válaszul: Látom az értelmét, szakdolgozatomban én is tettem egy megfigyelést arra, hogy az energia-alapú modellek tovább kedvezhetnek a VBD-</a:t>
            </a:r>
            <a:r>
              <a:rPr lang="hu-HU" dirty="0" err="1"/>
              <a:t>nek</a:t>
            </a:r>
            <a:r>
              <a:rPr lang="hu-HU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Ezt legjobban talán az bizonyítja, hogy az eredeti VBD cikk a ruhadarabok modellezéséhez a Saint </a:t>
            </a:r>
            <a:r>
              <a:rPr lang="hu-HU" dirty="0" err="1"/>
              <a:t>Venant</a:t>
            </a:r>
            <a:r>
              <a:rPr lang="hu-HU" dirty="0"/>
              <a:t>-Kirchhoff modellt használja – ez a modell pedig megvalósítja az imént említett </a:t>
            </a:r>
            <a:r>
              <a:rPr lang="hu-HU" dirty="0" err="1"/>
              <a:t>tenzort</a:t>
            </a:r>
            <a:r>
              <a:rPr lang="hu-HU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Szóval egyértelműen van értelme a két módszer kombinációjának, sőt, már foglalkoztak is vele kutatók.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Kérdés: Ha egy homogén lágy testben azonos tömegű pontok azonos merevségű kényszerekkel vannak</a:t>
            </a:r>
          </a:p>
          <a:p>
            <a:r>
              <a:rPr lang="hu-HU" dirty="0"/>
              <a:t>összekötve, ráadásul egy </a:t>
            </a:r>
            <a:r>
              <a:rPr lang="hu-HU" dirty="0" err="1"/>
              <a:t>tércentrált</a:t>
            </a:r>
            <a:r>
              <a:rPr lang="hu-HU" dirty="0"/>
              <a:t> kockarácsba szervezve, melyik módszert javasolná GPU</a:t>
            </a:r>
          </a:p>
          <a:p>
            <a:r>
              <a:rPr lang="hu-HU" dirty="0"/>
              <a:t>implementációra?</a:t>
            </a:r>
          </a:p>
          <a:p>
            <a:endParaRPr lang="hu-HU" dirty="0"/>
          </a:p>
          <a:p>
            <a:r>
              <a:rPr lang="hu-HU" dirty="0"/>
              <a:t>Az azonos tömeg és azonos merevség kizárják mindkét </a:t>
            </a:r>
            <a:r>
              <a:rPr lang="hu-HU" dirty="0" err="1"/>
              <a:t>solver</a:t>
            </a:r>
            <a:r>
              <a:rPr lang="hu-HU" dirty="0"/>
              <a:t> gyengepontját, így a </a:t>
            </a:r>
            <a:r>
              <a:rPr lang="hu-HU" dirty="0" err="1"/>
              <a:t>primal</a:t>
            </a:r>
            <a:r>
              <a:rPr lang="hu-HU" dirty="0"/>
              <a:t>/</a:t>
            </a:r>
            <a:r>
              <a:rPr lang="hu-HU" dirty="0" err="1"/>
              <a:t>dual</a:t>
            </a:r>
            <a:r>
              <a:rPr lang="hu-HU" dirty="0"/>
              <a:t> elmélet nem mérvadó a válaszadáshoz.</a:t>
            </a:r>
          </a:p>
          <a:p>
            <a:r>
              <a:rPr lang="hu-HU" dirty="0"/>
              <a:t>A döntő szempont így az lesz, hogy mennyire párhuzamosíthatók a módszerek.</a:t>
            </a:r>
          </a:p>
          <a:p>
            <a:r>
              <a:rPr lang="hu-HU" dirty="0"/>
              <a:t>Egy </a:t>
            </a:r>
            <a:r>
              <a:rPr lang="hu-HU" dirty="0" err="1"/>
              <a:t>tércentrált</a:t>
            </a:r>
            <a:r>
              <a:rPr lang="hu-HU" dirty="0"/>
              <a:t> kockarács egy elemének 9 pontja van: a kocka 8 csúcsa, illetve egy extra </a:t>
            </a:r>
            <a:r>
              <a:rPr lang="hu-HU" dirty="0" err="1"/>
              <a:t>közpéső</a:t>
            </a:r>
            <a:r>
              <a:rPr lang="hu-HU" dirty="0"/>
              <a:t> csúcs, melyekből a sarokban lévők össze vannak kötve a középsővel, és nincs más összeköttetés.</a:t>
            </a:r>
          </a:p>
          <a:p>
            <a:r>
              <a:rPr lang="hu-HU" dirty="0"/>
              <a:t>Észrevehető, hogy a teljes rács két színnel színezhető, ami nagyon kedvez a VBD-</a:t>
            </a:r>
            <a:r>
              <a:rPr lang="hu-HU" dirty="0" err="1"/>
              <a:t>nek</a:t>
            </a:r>
            <a:r>
              <a:rPr lang="hu-HU" dirty="0"/>
              <a:t>, hiszen a pontok fele egyszerre futtatható. Az élszínezéshez pedig 8 szín szükséges, ami alapesetben nem lenne sok, de a kettőnél jelentősen több.</a:t>
            </a:r>
          </a:p>
          <a:p>
            <a:r>
              <a:rPr lang="hu-HU" dirty="0"/>
              <a:t>Ezen kívül pedig az összeköttetések száma is nagyobb, mint a pontoké, ami tovább dönti a mérleget a VBD irányába.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144000" y="-1051560"/>
            <a:ext cx="3291840" cy="3291840"/>
          </a:xfrm>
          <a:prstGeom prst="roundRect">
            <a:avLst>
              <a:gd name="adj" fmla="val 13889"/>
            </a:avLst>
          </a:prstGeom>
          <a:solidFill>
            <a:srgbClr val="2E7D4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480000">
            <a:off x="10104120" y="320040"/>
            <a:ext cx="3291840" cy="3291840"/>
          </a:xfrm>
          <a:prstGeom prst="roundRect">
            <a:avLst>
              <a:gd name="adj" fmla="val 13889"/>
            </a:avLst>
          </a:prstGeom>
          <a:solidFill>
            <a:srgbClr val="C0392B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300" dirty="0">
                <a:solidFill>
                  <a:srgbClr val="5BB8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SZAKDOLGOZATVÉDÉS · BME VIK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7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Valósidejű</a:t>
            </a: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fizikai</a:t>
            </a:r>
            <a:endParaRPr lang="en-US" sz="4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szimuláció algoritmusai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566928" y="3621023"/>
            <a:ext cx="10241280" cy="80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</a:t>
            </a:r>
            <a:r>
              <a:rPr lang="hu-HU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Dynamics (</a:t>
            </a:r>
            <a:r>
              <a:rPr lang="en-US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XPBD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</a:p>
          <a:p>
            <a:pPr marL="0" indent="0">
              <a:buNone/>
            </a:pPr>
            <a:r>
              <a:rPr lang="hu-HU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</a:t>
            </a:r>
            <a:r>
              <a:rPr lang="en-US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VBD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módszerek </a:t>
            </a:r>
            <a:r>
              <a:rPr lang="en-US" sz="2200" i="1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összehasonlítás</a:t>
            </a:r>
            <a:r>
              <a:rPr lang="hu-HU" sz="2200" i="1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5440680"/>
            <a:ext cx="2194560" cy="25603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5596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80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Készítette</a:t>
            </a:r>
            <a:r>
              <a:rPr lang="en-US" sz="180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80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Konzulens</a:t>
            </a:r>
            <a:r>
              <a:rPr lang="en-US" sz="180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hu-H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Vaitkus Márton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6327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Irányítástechnika és Informatika Tanszék  ·  2026. </a:t>
            </a:r>
            <a:r>
              <a:rPr lang="hu-HU" sz="15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június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30049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BEVEZETÉS · MOTIVÁCIÓ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Miért nehéz a valós idejű szimuláció?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806440" cy="1335024"/>
          </a:xfrm>
          <a:prstGeom prst="roundRect">
            <a:avLst>
              <a:gd name="adj" fmla="val 5479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" y="2011680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img/icons/FaStop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07" y="216475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828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Szigorú időkorlát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45920" y="2231136"/>
            <a:ext cx="4507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</a:t>
            </a: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mellett az egész képkockára csak ~16 ms jut — ennek is csak töredéke a fizikáé.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108960"/>
            <a:ext cx="5806440" cy="1335024"/>
          </a:xfrm>
          <a:prstGeom prst="roundRect">
            <a:avLst>
              <a:gd name="adj" fmla="val 5479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9536" y="3493008"/>
            <a:ext cx="566928" cy="566928"/>
          </a:xfrm>
          <a:prstGeom prst="ellipse">
            <a:avLst/>
          </a:prstGeom>
          <a:solidFill>
            <a:srgbClr val="2E7D4F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img/icons/FaVector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07" y="364607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3101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Deformálható testek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645920" y="3712464"/>
            <a:ext cx="4507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Rugók, láncok, szövet: sok szabadsági fok </a:t>
            </a:r>
            <a:r>
              <a:rPr lang="en-US" sz="15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kényszer</a:t>
            </a: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képkockánként — ez a nehezebb eset.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4590288"/>
            <a:ext cx="5806440" cy="1335024"/>
          </a:xfrm>
          <a:prstGeom prst="roundRect">
            <a:avLst>
              <a:gd name="adj" fmla="val 5479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859536" y="4974336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645920" y="4791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850" b="1" dirty="0">
                <a:solidFill>
                  <a:srgbClr val="0F2A43"/>
                </a:solidFill>
                <a:latin typeface="Trebuchet MS" pitchFamily="34" charset="0"/>
              </a:rPr>
              <a:t>Fizikai pontosság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645920" y="5193792"/>
            <a:ext cx="4507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esetek nagy részében célunk, hogy szimulációnk valósághű maradjon.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784848" y="1627632"/>
            <a:ext cx="4839919" cy="4224528"/>
          </a:xfrm>
          <a:prstGeom prst="roundRect">
            <a:avLst>
              <a:gd name="adj" fmla="val 1732"/>
            </a:avLst>
          </a:prstGeom>
          <a:solidFill>
            <a:srgbClr val="0F2A43"/>
          </a:solidFill>
          <a:ln/>
          <a:effectLst>
            <a:outerShdw blurRad="114300" dist="38100" dir="54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104888" y="1828800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deformálható solverek spektruma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104888" y="2212848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4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←—————————→  </a:t>
            </a:r>
            <a:r>
              <a:rPr lang="en-US" sz="1400" b="1" dirty="0">
                <a:solidFill>
                  <a:srgbClr val="5B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hatékony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104888" y="2560320"/>
            <a:ext cx="4199839" cy="512064"/>
          </a:xfrm>
          <a:prstGeom prst="rect">
            <a:avLst/>
          </a:prstGeom>
          <a:solidFill>
            <a:srgbClr val="274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242048" y="256032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FEM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385048" y="2560320"/>
            <a:ext cx="2828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pontosság · legdrágább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104888" y="3136392"/>
            <a:ext cx="4199839" cy="5120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7242048" y="313639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VBD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385048" y="3136392"/>
            <a:ext cx="2828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közepes–</a:t>
            </a:r>
            <a:r>
              <a:rPr lang="en-US" sz="135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</a:t>
            </a:r>
            <a:r>
              <a:rPr lang="hu-HU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pontosság</a:t>
            </a: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közepes költség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104888" y="3712464"/>
            <a:ext cx="4199839" cy="512064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7242048" y="37124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XPBD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8385048" y="3712464"/>
            <a:ext cx="2828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Közepes</a:t>
            </a:r>
            <a:r>
              <a:rPr lang="hu-HU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pontosság</a:t>
            </a: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olcsó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104888" y="4288536"/>
            <a:ext cx="4199839" cy="512064"/>
          </a:xfrm>
          <a:prstGeom prst="rect">
            <a:avLst/>
          </a:prstGeom>
          <a:solidFill>
            <a:srgbClr val="274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7242048" y="42885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PBD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8385048" y="4288536"/>
            <a:ext cx="2828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Alacsony</a:t>
            </a:r>
            <a:r>
              <a:rPr lang="hu-HU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pontosság</a:t>
            </a: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(merevségfüggő) · olcsó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104888" y="4864608"/>
            <a:ext cx="4199839" cy="512064"/>
          </a:xfrm>
          <a:prstGeom prst="rect">
            <a:avLst/>
          </a:prstGeom>
          <a:solidFill>
            <a:srgbClr val="274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7242048" y="48646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MSS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8385048" y="4864608"/>
            <a:ext cx="2828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5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nstabil</a:t>
            </a: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legolcsóbb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104888" y="5495544"/>
            <a:ext cx="4199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dolgozat fókusza: XPBD és VBD — a valós idejű tartomány.</a:t>
            </a:r>
            <a:endParaRPr lang="en-US" sz="1100" dirty="0"/>
          </a:p>
        </p:txBody>
      </p:sp>
      <p:pic>
        <p:nvPicPr>
          <p:cNvPr id="43" name="Kép 42">
            <a:extLst>
              <a:ext uri="{FF2B5EF4-FFF2-40B4-BE49-F238E27FC236}">
                <a16:creationId xmlns:a16="http://schemas.microsoft.com/office/drawing/2014/main" id="{16F06BF0-3306-9BF0-E054-C97988247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733" y="5083533"/>
            <a:ext cx="348534" cy="34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0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BEVEZETÉS · HOZZÁJÁRULÁS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kérdés és a hozzájárulásom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5346040" cy="1078992"/>
          </a:xfrm>
          <a:prstGeom prst="roundRect">
            <a:avLst>
              <a:gd name="adj" fmla="val 6780"/>
            </a:avLst>
          </a:prstGeom>
          <a:solidFill>
            <a:srgbClr val="E9F2EC"/>
          </a:solidFill>
          <a:ln w="12700">
            <a:solidFill>
              <a:srgbClr val="CFE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591056"/>
            <a:ext cx="4797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XPBD</a:t>
            </a: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évek óta a valós </a:t>
            </a:r>
            <a:r>
              <a:rPr lang="en-US" sz="17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idejű</a:t>
            </a: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lágy test </a:t>
            </a:r>
            <a:r>
              <a:rPr lang="en-US" sz="17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solverek</a:t>
            </a: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egyik legelterjedtebb változata.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591056"/>
            <a:ext cx="5346040" cy="1078992"/>
          </a:xfrm>
          <a:prstGeom prst="roundRect">
            <a:avLst>
              <a:gd name="adj" fmla="val 6780"/>
            </a:avLst>
          </a:prstGeom>
          <a:solidFill>
            <a:srgbClr val="FAEBE8"/>
          </a:solidFill>
          <a:ln w="12700">
            <a:solidFill>
              <a:srgbClr val="EBC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53048" y="1591056"/>
            <a:ext cx="4797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2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VBD</a:t>
            </a: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</a:t>
            </a:r>
            <a:r>
              <a:rPr lang="en-US" sz="17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ígéretes</a:t>
            </a: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újdonság</a:t>
            </a:r>
            <a:r>
              <a:rPr lang="hu-HU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</a:t>
            </a: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amelyet még nem hasonlítottak össze alaposan az XPBD-vel.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2852928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cél:  </a:t>
            </a:r>
            <a:r>
              <a:rPr lang="en-US" sz="2000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 első </a:t>
            </a:r>
            <a:r>
              <a:rPr lang="en-US" sz="2000" b="1" i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hű</a:t>
            </a:r>
            <a:r>
              <a:rPr lang="en-US" sz="2000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XPBD-vs-VBD összehasonlítás.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3456432"/>
            <a:ext cx="3442106" cy="2377440"/>
          </a:xfrm>
          <a:prstGeom prst="roundRect">
            <a:avLst>
              <a:gd name="adj" fmla="val 3077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31365" y="3767328"/>
            <a:ext cx="713232" cy="713232"/>
          </a:xfrm>
          <a:prstGeom prst="ellipse">
            <a:avLst/>
          </a:prstGeom>
          <a:solidFill>
            <a:srgbClr val="2E7D4F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img/icons/Fa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938" y="3959901"/>
            <a:ext cx="328087" cy="32808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" y="4590288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Közös kódbázis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22960" y="4974336"/>
            <a:ext cx="29300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Mindkét solver ugyanabban a Unity-környezetben, ugyanarra a </a:t>
            </a: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tömeg-rugó</a:t>
            </a: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modellre.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74794" y="3456432"/>
            <a:ext cx="3442106" cy="2377440"/>
          </a:xfrm>
          <a:prstGeom prst="roundRect">
            <a:avLst>
              <a:gd name="adj" fmla="val 3077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39232" y="3767328"/>
            <a:ext cx="713232" cy="713232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img/icons/FaSlider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804" y="3959901"/>
            <a:ext cx="328087" cy="32808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57674" y="4590288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Egyező költség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4630826" y="4974336"/>
            <a:ext cx="29300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Egyező substep- és iterációszám — nem csak egyező anyagparaméterek. Wall-clock alapú összevetés.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82661" y="3456432"/>
            <a:ext cx="3442106" cy="2377440"/>
          </a:xfrm>
          <a:prstGeom prst="roundRect">
            <a:avLst>
              <a:gd name="adj" fmla="val 3077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9547098" y="3767328"/>
            <a:ext cx="713232" cy="713232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img/icons/FaBulls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671" y="3959901"/>
            <a:ext cx="328087" cy="3280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65541" y="4590288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Newton referencia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8438693" y="4974336"/>
            <a:ext cx="29300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 iterációszámú Newton-solver mint ground truth → abszolút hiba, nem csak relatív teljesítmény.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930563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ELMÉLETI ALAP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Közös alap: a prim</a:t>
            </a:r>
            <a:r>
              <a:rPr lang="hu-HU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l/du</a:t>
            </a:r>
            <a:r>
              <a:rPr lang="hu-HU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 nézőpont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4754880" cy="4224528"/>
          </a:xfrm>
          <a:prstGeom prst="roundRect">
            <a:avLst>
              <a:gd name="adj" fmla="val 1732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 implicit Euler variációs formája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59536" y="2304288"/>
            <a:ext cx="4169664" cy="91440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30428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 = 1/(2h</a:t>
            </a:r>
            <a:r>
              <a:rPr lang="en-US" sz="1850" baseline="3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hu-HU" sz="1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‖x − y‖</a:t>
            </a:r>
            <a:r>
              <a:rPr lang="en-US" sz="1850" baseline="3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50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E(x)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96112" y="34015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</a:t>
            </a:r>
            <a:r>
              <a:rPr lang="en-US" sz="15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tehetetlenségi</a:t>
            </a: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</a:t>
            </a: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(inertial target)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E(x)</a:t>
            </a: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teljes potenciális energia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‖·‖</a:t>
            </a:r>
            <a:r>
              <a:rPr lang="en-US" sz="1500" b="1" baseline="-40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</a:t>
            </a:r>
            <a:r>
              <a:rPr lang="en-US" sz="15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tömegsúlyozot</a:t>
            </a:r>
            <a:r>
              <a:rPr lang="hu-HU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hossz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" y="4663440"/>
            <a:ext cx="4114800" cy="787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következő állapot = G(x) </a:t>
            </a:r>
            <a:r>
              <a:rPr lang="hu-HU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minimumhelye</a:t>
            </a:r>
            <a:r>
              <a:rPr lang="en-US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Mindkét solver ugyanezt az </a:t>
            </a:r>
            <a:r>
              <a:rPr lang="en-US" sz="1500" i="1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energiát</a:t>
            </a:r>
            <a:r>
              <a:rPr lang="en-US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közelíti</a:t>
            </a:r>
            <a:r>
              <a:rPr lang="en-US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90208" y="1700784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90208" y="170078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20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</a:t>
            </a: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 G(x)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flipH="1">
            <a:off x="7126148" y="2542032"/>
            <a:ext cx="1575740" cy="704088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01888" y="2542032"/>
            <a:ext cx="1575740" cy="704088"/>
          </a:xfrm>
          <a:prstGeom prst="line">
            <a:avLst/>
          </a:prstGeom>
          <a:noFill/>
          <a:ln w="31750">
            <a:solidFill>
              <a:srgbClr val="2E7D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79008" y="3246120"/>
            <a:ext cx="2694280" cy="2606040"/>
          </a:xfrm>
          <a:prstGeom prst="roundRect">
            <a:avLst>
              <a:gd name="adj" fmla="val 2807"/>
            </a:avLst>
          </a:prstGeom>
          <a:solidFill>
            <a:srgbClr val="FAEBE8"/>
          </a:solidFill>
          <a:ln w="19050">
            <a:solidFill>
              <a:srgbClr val="C0392B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76380" y="3666744"/>
            <a:ext cx="2694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E2D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VBD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980176" y="4160520"/>
            <a:ext cx="2291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közvetlenül a </a:t>
            </a:r>
            <a:r>
              <a:rPr lang="en-US" sz="1500" b="1" dirty="0">
                <a:solidFill>
                  <a:srgbClr val="9E2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pozíciókra</a:t>
            </a: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(x) optimalizál</a:t>
            </a:r>
            <a:endParaRPr lang="en-US" sz="1250" dirty="0"/>
          </a:p>
          <a:p>
            <a:pPr marL="0" indent="0" algn="ctr">
              <a:buNone/>
            </a:pPr>
            <a:br>
              <a:rPr lang="hu-HU" sz="1500" dirty="0"/>
            </a:br>
            <a:endParaRPr lang="en-US" sz="1250" dirty="0"/>
          </a:p>
          <a:p>
            <a:pPr algn="ctr"/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Gauss–Seidel </a:t>
            </a:r>
            <a:b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söprés </a:t>
            </a:r>
            <a:r>
              <a:rPr lang="en-US" sz="15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csúcsonként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30488" y="3246120"/>
            <a:ext cx="2694280" cy="2606040"/>
          </a:xfrm>
          <a:prstGeom prst="roundRect">
            <a:avLst>
              <a:gd name="adj" fmla="val 2807"/>
            </a:avLst>
          </a:prstGeom>
          <a:solidFill>
            <a:srgbClr val="E9F2EC"/>
          </a:solidFill>
          <a:ln w="19050">
            <a:solidFill>
              <a:srgbClr val="2E7D4F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79008" y="3392424"/>
            <a:ext cx="269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450" b="1" kern="0" spc="200" dirty="0">
                <a:solidFill>
                  <a:srgbClr val="9E2D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30488" y="3666744"/>
            <a:ext cx="2694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XPBD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31656" y="4160520"/>
            <a:ext cx="2291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megkötések </a:t>
            </a:r>
            <a:r>
              <a:rPr lang="en-US" sz="1500" b="1" dirty="0">
                <a:solidFill>
                  <a:srgbClr val="256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szorzóira</a:t>
            </a: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(kényszererők) old meg</a:t>
            </a:r>
            <a:endParaRPr lang="en-US" sz="1250" dirty="0"/>
          </a:p>
          <a:p>
            <a:pPr marL="0" indent="0" algn="ctr">
              <a:buNone/>
            </a:pPr>
            <a:br>
              <a:rPr lang="hu-HU" sz="1500" dirty="0"/>
            </a:br>
            <a:endParaRPr lang="en-US" sz="125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Gauss–Seidel</a:t>
            </a:r>
            <a:endParaRPr lang="en-US" sz="1250" dirty="0"/>
          </a:p>
          <a:p>
            <a:pPr marL="0" indent="0" algn="ctr">
              <a:buNone/>
            </a:pPr>
            <a:r>
              <a:rPr lang="en-US" sz="15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söprés</a:t>
            </a: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kényszerenként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79008" y="5925312"/>
            <a:ext cx="5845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nézőpont jósolja meg a komplementer gyenge pontokat — amelyekre a stressz-tesztek épülnek.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27860" y="3396923"/>
            <a:ext cx="2694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450" b="1" kern="0" spc="200" dirty="0">
                <a:solidFill>
                  <a:srgbClr val="256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</a:t>
            </a:r>
            <a:endParaRPr lang="en-US" sz="1200" dirty="0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7BAE1E8A-DFBA-4D8D-0DDB-FD8DFD6954F2}"/>
              </a:ext>
            </a:extLst>
          </p:cNvPr>
          <p:cNvSpPr txBox="1"/>
          <p:nvPr/>
        </p:nvSpPr>
        <p:spPr>
          <a:xfrm>
            <a:off x="8309491" y="2127677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 dirty="0">
                <a:solidFill>
                  <a:schemeClr val="bg1"/>
                </a:solidFill>
              </a:rPr>
              <a:t>x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86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MÓDSZER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Módszertan: </a:t>
            </a:r>
            <a:r>
              <a:rPr lang="hu-HU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fair összehasonlítás alapjai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512064" cy="512064"/>
          </a:xfrm>
          <a:prstGeom prst="ellipse">
            <a:avLst/>
          </a:prstGeom>
          <a:solidFill>
            <a:srgbClr val="2E7D4F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g/icons/Fa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5" y="1802465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91056"/>
            <a:ext cx="4889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Közös Unity-kódbázis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80160" y="1920240"/>
            <a:ext cx="4889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közös vázszerkezet. Szövetmodell: mass-spring (nyújtó-, nyíró-, hajlítómegkötések — 12 rugó/belső csúcs).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74320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mg/icons/FaSlider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" y="288145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670048"/>
            <a:ext cx="4889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Egyező anyag &amp; költség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280160" y="2999232"/>
            <a:ext cx="4889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αXPBD = 1 / kVBD ; egyező gravitáció, dt = 1/30 s, </a:t>
            </a:r>
            <a:r>
              <a:rPr lang="en-US" sz="135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csillapítás</a:t>
            </a:r>
            <a:r>
              <a:rPr lang="hu-HU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nélkül</a:t>
            </a: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Összevetés wall-clock idő alapján.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822192"/>
            <a:ext cx="512064" cy="512064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img/icons/FaBulls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85" y="3960449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749040"/>
            <a:ext cx="4889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Newton ground truth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280160" y="4078224"/>
            <a:ext cx="4889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 iterációszámú Newton-solver → abszolút megoldási hiba (RMS pozícióhiba), nem csak relatív teljesítmény.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6928" y="4901184"/>
            <a:ext cx="512064" cy="512064"/>
          </a:xfrm>
          <a:prstGeom prst="ellipse">
            <a:avLst/>
          </a:prstGeom>
          <a:solidFill>
            <a:srgbClr val="0F2A43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img/icons/FaMicro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85" y="5039441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828032"/>
            <a:ext cx="4889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Egyszálú CPU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1280160" y="5157216"/>
            <a:ext cx="4889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Ryzen 7 5800H · Unity 6. Minden mérés egyszálú — ez a VBD ellen torzít (lásd: jövőbeli munka).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286500" y="1549400"/>
            <a:ext cx="5334000" cy="4800600"/>
          </a:xfrm>
          <a:prstGeom prst="roundRect">
            <a:avLst>
              <a:gd name="adj" fmla="val 1778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502400" y="1651000"/>
            <a:ext cx="490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Ugyanaz a jelenet, két solver</a:t>
            </a:r>
            <a:endParaRPr lang="en-US" sz="1400" dirty="0"/>
          </a:p>
        </p:txBody>
      </p:sp>
      <p:pic>
        <p:nvPicPr>
          <p:cNvPr id="24" name="Image 4" descr="img/fig_windcloth.png"/>
          <p:cNvPicPr>
            <a:picLocks noChangeAspect="1"/>
          </p:cNvPicPr>
          <p:nvPr/>
        </p:nvPicPr>
        <p:blipFill>
          <a:blip r:embed="rId7"/>
          <a:srcRect l="4403" r="7868"/>
          <a:stretch>
            <a:fillRect/>
          </a:stretch>
        </p:blipFill>
        <p:spPr>
          <a:xfrm>
            <a:off x="6350000" y="2057400"/>
            <a:ext cx="5207000" cy="2159000"/>
          </a:xfrm>
          <a:prstGeom prst="rect">
            <a:avLst/>
          </a:prstGeom>
        </p:spPr>
      </p:pic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7A3EE0AE-1A21-402F-95C4-E924EC4BA070}"/>
              </a:ext>
            </a:extLst>
          </p:cNvPr>
          <p:cNvGrpSpPr/>
          <p:nvPr/>
        </p:nvGrpSpPr>
        <p:grpSpPr>
          <a:xfrm>
            <a:off x="7687047" y="4055064"/>
            <a:ext cx="3172677" cy="281867"/>
            <a:chOff x="7538866" y="3865967"/>
            <a:chExt cx="3172677" cy="281867"/>
          </a:xfrm>
        </p:grpSpPr>
        <p:sp>
          <p:nvSpPr>
            <p:cNvPr id="25" name="Shape 18"/>
            <p:cNvSpPr/>
            <p:nvPr/>
          </p:nvSpPr>
          <p:spPr>
            <a:xfrm>
              <a:off x="7366000" y="4368800"/>
              <a:ext cx="164592" cy="164592"/>
            </a:xfrm>
            <a:prstGeom prst="ellipse">
              <a:avLst/>
            </a:prstGeom>
            <a:solidFill>
              <a:srgbClr val="2E7D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9"/>
            <p:cNvSpPr/>
            <p:nvPr/>
          </p:nvSpPr>
          <p:spPr>
            <a:xfrm>
              <a:off x="7581900" y="431800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XPBD (zöld)</a:t>
              </a:r>
              <a:endParaRPr lang="en-US" sz="1200" dirty="0"/>
            </a:p>
          </p:txBody>
        </p:sp>
        <p:sp>
          <p:nvSpPr>
            <p:cNvPr id="27" name="Shape 20"/>
            <p:cNvSpPr/>
            <p:nvPr/>
          </p:nvSpPr>
          <p:spPr>
            <a:xfrm>
              <a:off x="9601200" y="4368800"/>
              <a:ext cx="164592" cy="164592"/>
            </a:xfrm>
            <a:prstGeom prst="ellipse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1"/>
            <p:cNvSpPr/>
            <p:nvPr/>
          </p:nvSpPr>
          <p:spPr>
            <a:xfrm>
              <a:off x="9817100" y="4318000"/>
              <a:ext cx="120650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VBD (piros)</a:t>
              </a:r>
              <a:endParaRPr lang="en-US" sz="1200" dirty="0"/>
            </a:p>
          </p:txBody>
        </p:sp>
      </p:grpSp>
      <p:sp>
        <p:nvSpPr>
          <p:cNvPr id="29" name="Text 22"/>
          <p:cNvSpPr/>
          <p:nvPr/>
        </p:nvSpPr>
        <p:spPr>
          <a:xfrm>
            <a:off x="6502400" y="4724400"/>
            <a:ext cx="49022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Szél által fújt</a:t>
            </a: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i="1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felfüggesztett</a:t>
            </a: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szövet</a:t>
            </a:r>
            <a:r>
              <a:rPr lang="hu-HU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32</a:t>
            </a: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r>
              <a:rPr lang="hu-HU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csúccsal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2974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EREDMÉNYEK · 1/4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Hatékonyság: az egyenlő-költség front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1676400"/>
            <a:ext cx="5070348" cy="286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VBD-iteráció mindig közelebb kerül a Newton-megoldáshoz, mint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XPBD-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iteráció</a:t>
            </a:r>
            <a:r>
              <a:rPr lang="hu-HU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cserébe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drágább.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Nehéz részfeladatnál (nagy dt, kevés substep) a VBD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</a:t>
            </a:r>
            <a:r>
              <a:rPr lang="hu-HU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mivel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másodrendű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információ</a:t>
            </a:r>
            <a:r>
              <a:rPr lang="hu-HU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felhasznál.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Ahogy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substep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finomodik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részfeladatok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könnyűvé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válnak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olcsóbb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XPBD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veszi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hu-HU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vezetést.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4956048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E4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956048"/>
            <a:ext cx="45628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Mérőszám:  </a:t>
            </a: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átlagos ms/képkocka vs. átlagos RMS pozícióhiba, a Newton-referenciához mérve. 10 csomópontos, súlyozott lánc, minden </a:t>
            </a:r>
            <a:r>
              <a:rPr lang="en-US" sz="1400" dirty="0">
                <a:solidFill>
                  <a:srgbClr val="0A5C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00" baseline="-25000" dirty="0">
                <a:solidFill>
                  <a:srgbClr val="0A5C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r>
              <a:rPr lang="en-US" sz="1400" dirty="0">
                <a:solidFill>
                  <a:srgbClr val="0A5C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n</a:t>
            </a:r>
            <a:r>
              <a:rPr lang="en-US" sz="1400" baseline="-25000" dirty="0">
                <a:solidFill>
                  <a:srgbClr val="0A5C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kombinációra.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69000" y="1663700"/>
            <a:ext cx="5664200" cy="46228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img/fig_pareto.png"/>
          <p:cNvPicPr>
            <a:picLocks noChangeAspect="1"/>
          </p:cNvPicPr>
          <p:nvPr/>
        </p:nvPicPr>
        <p:blipFill>
          <a:blip r:embed="rId3"/>
          <a:srcRect l="7248" t="4202" r="1069" b="4232"/>
          <a:stretch>
            <a:fillRect/>
          </a:stretch>
        </p:blipFill>
        <p:spPr>
          <a:xfrm>
            <a:off x="6070600" y="1765300"/>
            <a:ext cx="5461000" cy="3568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86500" y="5435600"/>
            <a:ext cx="5118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Pareto-frontok különböző Newton-referenciákkal: 1 / 4 / 8 / 64 substep (bal-fent → jobb-lent).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7828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EREDMÉNYEK · 2/4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 err="1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Robusztusság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499616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primál/duál nézőpont </a:t>
            </a: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előre megmondta</a:t>
            </a:r>
            <a:r>
              <a:rPr lang="en-US" sz="15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melyik solver hol bukik el. Mindkét teszt: 1 substep, 100 iteráció.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5300320" cy="3873500"/>
          </a:xfrm>
          <a:prstGeom prst="roundRect">
            <a:avLst>
              <a:gd name="adj" fmla="val 1951"/>
            </a:avLst>
          </a:prstGeom>
          <a:solidFill>
            <a:srgbClr val="F5F8FB"/>
          </a:solidFill>
          <a:ln w="16510">
            <a:solidFill>
              <a:srgbClr val="C0392B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2084832"/>
            <a:ext cx="484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1000× tömegarány</a:t>
            </a:r>
            <a:endParaRPr lang="en-US" sz="1700" dirty="0"/>
          </a:p>
        </p:txBody>
      </p:sp>
      <p:pic>
        <p:nvPicPr>
          <p:cNvPr id="9" name="Image 0" descr="img/fig_chain_mass.png"/>
          <p:cNvPicPr>
            <a:picLocks noChangeAspect="1"/>
          </p:cNvPicPr>
          <p:nvPr/>
        </p:nvPicPr>
        <p:blipFill>
          <a:blip r:embed="rId3"/>
          <a:srcRect t="2313" r="5778"/>
          <a:stretch>
            <a:fillRect/>
          </a:stretch>
        </p:blipFill>
        <p:spPr>
          <a:xfrm>
            <a:off x="774700" y="2438400"/>
            <a:ext cx="4889500" cy="1663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4165600"/>
            <a:ext cx="484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→ jobb:  Newton · XPBD · VBD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4445000"/>
            <a:ext cx="475168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hu-HU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XPBD </a:t>
            </a:r>
            <a:r>
              <a:rPr lang="en-US" sz="1450" b="1" dirty="0">
                <a:solidFill>
                  <a:srgbClr val="9E2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konvergál</a:t>
            </a: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megosztott csúcson lévő tömegkülönbség lassan terjed. A VBD jól közelít.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24448" y="1938528"/>
            <a:ext cx="5300320" cy="3873500"/>
          </a:xfrm>
          <a:prstGeom prst="roundRect">
            <a:avLst>
              <a:gd name="adj" fmla="val 1951"/>
            </a:avLst>
          </a:prstGeom>
          <a:solidFill>
            <a:srgbClr val="F5F8FB"/>
          </a:solidFill>
          <a:ln w="16510">
            <a:solidFill>
              <a:srgbClr val="C0392B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53048" y="2084832"/>
            <a:ext cx="484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1:10000 merevségarány</a:t>
            </a:r>
            <a:endParaRPr lang="en-US" sz="1700" dirty="0"/>
          </a:p>
        </p:txBody>
      </p:sp>
      <p:pic>
        <p:nvPicPr>
          <p:cNvPr id="14" name="Image 1" descr="img/fig_chain_sti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00" y="2438400"/>
            <a:ext cx="4889500" cy="1485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53048" y="4165600"/>
            <a:ext cx="484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→ jobb:  Newton · XPBD · VBD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596307" y="4445000"/>
            <a:ext cx="4751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szerepek megfordulnak: a VBD </a:t>
            </a:r>
            <a:r>
              <a:rPr lang="hu-HU" sz="1450" b="1" dirty="0">
                <a:solidFill>
                  <a:srgbClr val="9E2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konvergál</a:t>
            </a: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míg az XPBD szinte tökéletesen illeszkedik.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8315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EREDMÉNYEK · 3/4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Fizikai valósághűség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499616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Elég iterációval mindkét solver </a:t>
            </a: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megkülönböztethetetlen</a:t>
            </a:r>
            <a:r>
              <a:rPr lang="en-US" sz="15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Newton-referenciától — és egymástól.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1500" y="1905000"/>
            <a:ext cx="5295900" cy="43815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0100" y="2006600"/>
            <a:ext cx="483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Harmonikus oszcillátor</a:t>
            </a:r>
            <a:endParaRPr lang="en-US" sz="1600" dirty="0"/>
          </a:p>
        </p:txBody>
      </p:sp>
      <p:pic>
        <p:nvPicPr>
          <p:cNvPr id="9" name="Image 0" descr="img/fig_harmonic.png"/>
          <p:cNvPicPr>
            <a:picLocks noChangeAspect="1"/>
          </p:cNvPicPr>
          <p:nvPr/>
        </p:nvPicPr>
        <p:blipFill>
          <a:blip r:embed="rId3"/>
          <a:srcRect l="12681" b="1057"/>
          <a:stretch>
            <a:fillRect/>
          </a:stretch>
        </p:blipFill>
        <p:spPr>
          <a:xfrm>
            <a:off x="939800" y="2451100"/>
            <a:ext cx="4521200" cy="288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8200" y="5435600"/>
            <a:ext cx="4838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Mindkettő 1 iteráció alatt konvergál; a látható csillapítás pusztán az implicit Euler mellékhatása.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24600" y="1905000"/>
            <a:ext cx="5295900" cy="438150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3200" y="2006600"/>
            <a:ext cx="483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Energia-követés</a:t>
            </a:r>
            <a:endParaRPr lang="en-US" sz="1600" dirty="0"/>
          </a:p>
        </p:txBody>
      </p:sp>
      <p:pic>
        <p:nvPicPr>
          <p:cNvPr id="13" name="Image 1" descr="img/fig_energy.png"/>
          <p:cNvPicPr>
            <a:picLocks noChangeAspect="1"/>
          </p:cNvPicPr>
          <p:nvPr/>
        </p:nvPicPr>
        <p:blipFill>
          <a:blip r:embed="rId4"/>
          <a:srcRect l="13480" t="5395" r="4613" b="4701"/>
          <a:stretch>
            <a:fillRect/>
          </a:stretch>
        </p:blipFill>
        <p:spPr>
          <a:xfrm>
            <a:off x="6527800" y="2451100"/>
            <a:ext cx="4889500" cy="2336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04000" y="4876800"/>
            <a:ext cx="4838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Közös exponenciális </a:t>
            </a:r>
            <a:r>
              <a:rPr lang="en-US" sz="14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lecsengés</a:t>
            </a: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hu-HU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iterációnál </a:t>
            </a:r>
            <a:r>
              <a:rPr lang="en-US" sz="14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mindkettő</a:t>
            </a: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konvergál a </a:t>
            </a:r>
            <a:r>
              <a:rPr lang="en-US" sz="14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referenciá</a:t>
            </a:r>
            <a:r>
              <a:rPr lang="hu-HU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</a:t>
            </a: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6260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EREDMÉNYEK · 4/4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Rugalmasság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44752"/>
            <a:ext cx="11057839" cy="713232"/>
          </a:xfrm>
          <a:prstGeom prst="roundRect">
            <a:avLst>
              <a:gd name="adj" fmla="val 10606"/>
            </a:avLst>
          </a:prstGeom>
          <a:solidFill>
            <a:srgbClr val="E4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6092" y="1587573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img/icons/FaInfi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711017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8740" y="1499616"/>
            <a:ext cx="100519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Iterációfüggetlen merevség:  </a:t>
            </a: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mindkét solvernél a </a:t>
            </a:r>
            <a:r>
              <a:rPr lang="hu-HU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konvergált</a:t>
            </a: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alak gyakorlatilag független </a:t>
            </a:r>
            <a:r>
              <a:rPr lang="en-US" sz="13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iterációszámtól</a:t>
            </a:r>
            <a:r>
              <a:rPr lang="hu-HU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az anyagtulajdonság nem függ a </a:t>
            </a:r>
            <a:r>
              <a:rPr lang="hu-HU" sz="13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r>
              <a:rPr lang="hu-HU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büdzséjétől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377440"/>
            <a:ext cx="5300320" cy="3246120"/>
          </a:xfrm>
          <a:prstGeom prst="roundRect">
            <a:avLst>
              <a:gd name="adj" fmla="val 2254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41248" y="2633472"/>
            <a:ext cx="548640" cy="548640"/>
          </a:xfrm>
          <a:prstGeom prst="ellipse">
            <a:avLst/>
          </a:prstGeom>
          <a:solidFill>
            <a:srgbClr val="2E7D4F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mg/icons/Fa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278160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27048" y="2633472"/>
            <a:ext cx="420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800" b="1" dirty="0">
                <a:solidFill>
                  <a:srgbClr val="0F2A43"/>
                </a:solidFill>
                <a:latin typeface="Trebuchet MS" pitchFamily="34" charset="0"/>
              </a:rPr>
              <a:t>Eltérő bukási mód</a:t>
            </a:r>
          </a:p>
        </p:txBody>
      </p:sp>
      <p:sp>
        <p:nvSpPr>
          <p:cNvPr id="14" name="Text 10"/>
          <p:cNvSpPr/>
          <p:nvPr/>
        </p:nvSpPr>
        <p:spPr>
          <a:xfrm>
            <a:off x="859536" y="3291840"/>
            <a:ext cx="473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hu-HU" sz="1400" dirty="0">
                <a:solidFill>
                  <a:srgbClr val="1E2A3A"/>
                </a:solidFill>
                <a:latin typeface="Calibri" pitchFamily="34" charset="0"/>
              </a:rPr>
              <a:t>Másképp bukik el a két módszer: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hu-HU" sz="1400" dirty="0">
                <a:solidFill>
                  <a:srgbClr val="256441"/>
                </a:solidFill>
                <a:latin typeface="Calibri" pitchFamily="34" charset="0"/>
              </a:rPr>
              <a:t>XPBD: az anyag túlnyúlik, de szemnek hihető marad.</a:t>
            </a:r>
          </a:p>
          <a:p>
            <a:pPr marL="177800" indent="-177800">
              <a:buSzPct val="100000"/>
              <a:buChar char="•"/>
            </a:pPr>
            <a:r>
              <a:rPr lang="hu-HU" sz="1400" dirty="0">
                <a:solidFill>
                  <a:srgbClr val="9E2D21"/>
                </a:solidFill>
                <a:latin typeface="Calibri" pitchFamily="34" charset="0"/>
              </a:rPr>
              <a:t>VBD: artifactot mutat, vagy felrobban.</a:t>
            </a:r>
          </a:p>
        </p:txBody>
      </p:sp>
      <p:sp>
        <p:nvSpPr>
          <p:cNvPr id="15" name="Shape 11"/>
          <p:cNvSpPr/>
          <p:nvPr/>
        </p:nvSpPr>
        <p:spPr>
          <a:xfrm>
            <a:off x="859536" y="4773168"/>
            <a:ext cx="4733392" cy="658368"/>
          </a:xfrm>
          <a:prstGeom prst="roundRect">
            <a:avLst>
              <a:gd name="adj" fmla="val 8333"/>
            </a:avLst>
          </a:prstGeom>
          <a:solidFill>
            <a:srgbClr val="E9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024128" y="4773168"/>
            <a:ext cx="447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b="1" dirty="0">
                <a:solidFill>
                  <a:srgbClr val="256441"/>
                </a:solidFill>
                <a:latin typeface="Trebuchet MS" pitchFamily="34" charset="0"/>
              </a:rPr>
              <a:t>XPBD </a:t>
            </a:r>
            <a:r>
              <a:rPr lang="hu-HU" sz="1300" dirty="0">
                <a:solidFill>
                  <a:srgbClr val="1E2A3A"/>
                </a:solidFill>
                <a:latin typeface="Trebuchet MS" pitchFamily="34" charset="0"/>
              </a:rPr>
              <a:t>bukása szemnek hihetőbb</a:t>
            </a:r>
          </a:p>
        </p:txBody>
      </p:sp>
      <p:sp>
        <p:nvSpPr>
          <p:cNvPr id="17" name="Shape 13"/>
          <p:cNvSpPr/>
          <p:nvPr/>
        </p:nvSpPr>
        <p:spPr>
          <a:xfrm>
            <a:off x="6324448" y="2377440"/>
            <a:ext cx="5300320" cy="3246120"/>
          </a:xfrm>
          <a:prstGeom prst="roundRect">
            <a:avLst>
              <a:gd name="adj" fmla="val 2254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598768" y="2633472"/>
            <a:ext cx="548640" cy="54864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img/icons/Fa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900" y="2781605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84568" y="2633472"/>
            <a:ext cx="420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Lefedettség &amp; párhuzamosság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617056" y="3291840"/>
            <a:ext cx="473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6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XPBD: ~10 év telepítés — szövet, folyadék, merev test, haj; széles merevségtartomány, gyakran „out of the box”.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9E2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VBD: 2024-es, főként rugalmas testekre; gyakran hangolni kell, de a csúcsblokkok tisztábban párhuzamosíthatók.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617056" y="4773168"/>
            <a:ext cx="4733392" cy="658368"/>
          </a:xfrm>
          <a:prstGeom prst="roundRect">
            <a:avLst>
              <a:gd name="adj" fmla="val 8333"/>
            </a:avLst>
          </a:prstGeom>
          <a:solidFill>
            <a:srgbClr val="E4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781648" y="4773168"/>
            <a:ext cx="447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200" dirty="0" err="1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Lefedettésgre</a:t>
            </a:r>
            <a:r>
              <a:rPr lang="hu-HU" sz="1200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700" b="1" dirty="0">
                <a:solidFill>
                  <a:srgbClr val="256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XPBD</a:t>
            </a:r>
            <a:r>
              <a:rPr lang="en-US" sz="1200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párhuzamra  </a:t>
            </a:r>
            <a:r>
              <a:rPr lang="en-US" sz="1700" b="1" dirty="0">
                <a:solidFill>
                  <a:srgbClr val="9E2D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VBD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1929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300" dirty="0">
                <a:solidFill>
                  <a:srgbClr val="5BB8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ÖSSZEGZÉS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Egyik sem dominál — melyik mikor nyer?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00320" cy="1417320"/>
          </a:xfrm>
          <a:prstGeom prst="roundRect">
            <a:avLst>
              <a:gd name="adj" fmla="val 5161"/>
            </a:avLst>
          </a:prstGeom>
          <a:solidFill>
            <a:srgbClr val="14324F"/>
          </a:solidFill>
          <a:ln w="12700">
            <a:solidFill>
              <a:srgbClr val="234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cons/FaTachometer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200162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00784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Hatékonyság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45920" y="2084832"/>
            <a:ext cx="402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 dt-nél a VBD; finom substepnél az olcsóbb XPBD. Senki sem dominál a fronton.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24448" y="1517904"/>
            <a:ext cx="5300320" cy="1417320"/>
          </a:xfrm>
          <a:prstGeom prst="roundRect">
            <a:avLst>
              <a:gd name="adj" fmla="val 5161"/>
            </a:avLst>
          </a:prstGeom>
          <a:solidFill>
            <a:srgbClr val="14324F"/>
          </a:solidFill>
          <a:ln w="12700">
            <a:solidFill>
              <a:srgbClr val="234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0480" y="1828800"/>
            <a:ext cx="640080" cy="640080"/>
          </a:xfrm>
          <a:prstGeom prst="ellipse">
            <a:avLst/>
          </a:prstGeom>
          <a:solidFill>
            <a:srgbClr val="3FA776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mg/icons/FaShiel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301" y="200162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3440" y="1700784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Robusztusság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03440" y="2084832"/>
            <a:ext cx="402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XPBD: merev / közel-merev kötés. VBD: nagy tömegarány. </a:t>
            </a:r>
            <a:r>
              <a:rPr lang="hu-HU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Elmélet </a:t>
            </a:r>
            <a:r>
              <a:rPr lang="en-US" sz="1450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jóslat</a:t>
            </a:r>
            <a:r>
              <a:rPr lang="hu-HU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szerint</a:t>
            </a:r>
            <a:r>
              <a:rPr lang="hu-HU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teljesítenek</a:t>
            </a:r>
            <a:r>
              <a:rPr lang="en-US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3227832"/>
            <a:ext cx="5300320" cy="1417320"/>
          </a:xfrm>
          <a:prstGeom prst="roundRect">
            <a:avLst>
              <a:gd name="adj" fmla="val 5161"/>
            </a:avLst>
          </a:prstGeom>
          <a:solidFill>
            <a:srgbClr val="14324F"/>
          </a:solidFill>
          <a:ln w="12700">
            <a:solidFill>
              <a:srgbClr val="234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3538728"/>
            <a:ext cx="640080" cy="640080"/>
          </a:xfrm>
          <a:prstGeom prst="ellipse">
            <a:avLst/>
          </a:prstGeom>
          <a:solidFill>
            <a:srgbClr val="E06A5C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img/icons/Fa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2" y="3711550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10712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Valósághűség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45920" y="3794760"/>
            <a:ext cx="402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Elég </a:t>
            </a:r>
            <a:r>
              <a:rPr lang="en-US" sz="1450" dirty="0" err="1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iterációval</a:t>
            </a:r>
            <a:r>
              <a:rPr lang="en-US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mindkettő</a:t>
            </a:r>
            <a:r>
              <a:rPr lang="hu-HU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hu-HU" sz="1450" dirty="0">
                <a:solidFill>
                  <a:srgbClr val="A9C0D6"/>
                </a:solidFill>
              </a:rPr>
              <a:t>→</a:t>
            </a:r>
            <a:r>
              <a:rPr lang="en-US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 Newton. </a:t>
            </a:r>
            <a:r>
              <a:rPr lang="en-US" sz="1450" dirty="0" err="1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Csak</a:t>
            </a:r>
            <a:r>
              <a:rPr lang="en-US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 a</a:t>
            </a:r>
            <a:r>
              <a:rPr lang="hu-HU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 kedvező</a:t>
            </a:r>
            <a:r>
              <a:rPr lang="en-US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iteráció</a:t>
            </a:r>
            <a:r>
              <a:rPr lang="hu-HU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szám</a:t>
            </a:r>
            <a:r>
              <a:rPr lang="en-US" sz="1450" dirty="0">
                <a:solidFill>
                  <a:srgbClr val="A9C0D6"/>
                </a:solidFill>
                <a:ea typeface="Calibri" pitchFamily="34" charset="-122"/>
                <a:cs typeface="Calibri" pitchFamily="34" charset="-120"/>
              </a:rPr>
              <a:t> tér el.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24448" y="3227832"/>
            <a:ext cx="5300320" cy="1417320"/>
          </a:xfrm>
          <a:prstGeom prst="roundRect">
            <a:avLst>
              <a:gd name="adj" fmla="val 5161"/>
            </a:avLst>
          </a:prstGeom>
          <a:solidFill>
            <a:srgbClr val="14324F"/>
          </a:solidFill>
          <a:ln w="12700">
            <a:solidFill>
              <a:srgbClr val="234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80480" y="3538728"/>
            <a:ext cx="640080" cy="640080"/>
          </a:xfrm>
          <a:prstGeom prst="ellipse">
            <a:avLst/>
          </a:prstGeom>
          <a:solidFill>
            <a:srgbClr val="8FB0CF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icons/FaPuzzlePie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301" y="3711550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3440" y="3410712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Rugalmasság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03440" y="3794760"/>
            <a:ext cx="402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XPBD: könnyebb skalár bővítés + nagy ökoszisztéma. VBD: tisztább párhuzamosítás.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66928" y="4901184"/>
            <a:ext cx="11057839" cy="1060704"/>
          </a:xfrm>
          <a:prstGeom prst="roundRect">
            <a:avLst>
              <a:gd name="adj" fmla="val 6897"/>
            </a:avLst>
          </a:prstGeom>
          <a:solidFill>
            <a:srgbClr val="0A3C46"/>
          </a:solidFill>
          <a:ln w="1651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86968" y="5010912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E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 ajánlás szcenárió-függő, nem abszolút: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86968" y="5358384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VBD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nehéz részfeladat (nagy dt), nagy tömegarány, </a:t>
            </a:r>
            <a:r>
              <a:rPr lang="en-US" sz="15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párhuzamos</a:t>
            </a:r>
            <a:r>
              <a:rPr lang="hu-HU" sz="15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ítás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  </a:t>
            </a:r>
            <a:r>
              <a:rPr lang="en-US" sz="1550" b="1" dirty="0">
                <a:solidFill>
                  <a:srgbClr val="5FD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XPBD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merev / közel-merev kötés, „out of the box” robusztusság, kiforrott ökoszisztéma.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1345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KITEKINTÉS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Jövőbeli munka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  ·  XPBD vs. VBD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27487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hu-HU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71500" y="1778000"/>
            <a:ext cx="3479800" cy="4064000"/>
          </a:xfrm>
          <a:prstGeom prst="roundRect">
            <a:avLst>
              <a:gd name="adj" fmla="val 3670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0900" y="2095500"/>
            <a:ext cx="635000" cy="635000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img/icons/Fa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60600"/>
            <a:ext cx="304800" cy="30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900" y="2921000"/>
            <a:ext cx="2921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Többszálú / GPU összehasonlítás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0900" y="3810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legfontosabb kiterjesztés. A csúcs-színezés tisztábban párhuzamosít — várhatóan tovább billenti a mérleget a VBD felé.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56100" y="1778000"/>
            <a:ext cx="3479800" cy="4064000"/>
          </a:xfrm>
          <a:prstGeom prst="roundRect">
            <a:avLst>
              <a:gd name="adj" fmla="val 3670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35500" y="2095500"/>
            <a:ext cx="635000" cy="635000"/>
          </a:xfrm>
          <a:prstGeom prst="ellipse">
            <a:avLst/>
          </a:prstGeom>
          <a:solidFill>
            <a:srgbClr val="2E7D4F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img/icons/FaArrow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60600"/>
            <a:ext cx="304800" cy="304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5500" y="2921000"/>
            <a:ext cx="2921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AVBD és 2024 utáni változatok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35500" y="3810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AVBD célzottan kezeli a merevségarányt és a </a:t>
            </a:r>
            <a:r>
              <a:rPr lang="en-US" sz="15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közel-merev</a:t>
            </a: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kötéseket</a:t>
            </a: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– Fennáll-e továbbra is a </a:t>
            </a:r>
            <a:r>
              <a:rPr lang="hu-HU" sz="15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</a:t>
            </a:r>
            <a:r>
              <a:rPr lang="hu-HU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gyengeség.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140700" y="1778000"/>
            <a:ext cx="3479800" cy="4064000"/>
          </a:xfrm>
          <a:prstGeom prst="roundRect">
            <a:avLst>
              <a:gd name="adj" fmla="val 3670"/>
            </a:avLst>
          </a:prstGeom>
          <a:solidFill>
            <a:srgbClr val="F5F8FB"/>
          </a:solidFill>
          <a:ln w="12700">
            <a:solidFill>
              <a:srgbClr val="E2E9F0"/>
            </a:solidFill>
            <a:prstDash val="solid"/>
          </a:ln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420100" y="2095500"/>
            <a:ext cx="635000" cy="635000"/>
          </a:xfrm>
          <a:prstGeom prst="ellipse">
            <a:avLst/>
          </a:prstGeom>
          <a:solidFill>
            <a:srgbClr val="27496B"/>
          </a:solidFill>
          <a:ln/>
          <a:effectLst>
            <a:outerShdw blurRad="88900" dist="25400" dir="5400000" algn="bl" rotWithShape="0">
              <a:srgbClr val="0F2A4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img/icons/FaCub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200" y="2260600"/>
            <a:ext cx="304800" cy="304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20100" y="2921000"/>
            <a:ext cx="2921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dinamikai területek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420100" y="3810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Lágy testek, merev testek: vajon ugyanezek a következtetések érvényesek-e más típusú dinamikára is.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20813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9235440" y="4297680"/>
            <a:ext cx="3291840" cy="3291840"/>
          </a:xfrm>
          <a:prstGeom prst="roundRect">
            <a:avLst>
              <a:gd name="adj" fmla="val 13889"/>
            </a:avLst>
          </a:prstGeom>
          <a:solidFill>
            <a:srgbClr val="2E7D4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840000">
            <a:off x="-822960" y="-822960"/>
            <a:ext cx="3108960" cy="3108960"/>
          </a:xfrm>
          <a:prstGeom prst="roundRect">
            <a:avLst>
              <a:gd name="adj" fmla="val 14706"/>
            </a:avLst>
          </a:prstGeom>
          <a:solidFill>
            <a:srgbClr val="C0392B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Köszönöm a figyelmet!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2194560" cy="25603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43159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Biró Márton</a:t>
            </a:r>
            <a:r>
              <a:rPr lang="en-US" sz="180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hu-HU" sz="180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konzulens</a:t>
            </a:r>
            <a:r>
              <a:rPr lang="en-US" sz="1800" dirty="0">
                <a:solidFill>
                  <a:srgbClr val="A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dr. Vaitkus Márton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46817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fizikai szimuláció algoritmusai — XPBD vs. VBD  ·  BME VIK,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25780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5257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XPBD · du</a:t>
            </a:r>
            <a:r>
              <a:rPr lang="hu-HU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05456" y="525780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05456" y="5257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VBD · prim</a:t>
            </a:r>
            <a:r>
              <a:rPr lang="hu-HU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946334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1104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BÍRÁLÓI KÉRDÉS · </a:t>
            </a:r>
            <a:r>
              <a:rPr lang="hu-HU" sz="13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b="1" kern="0" spc="300" dirty="0">
              <a:solidFill>
                <a:srgbClr val="5BB8C4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1500" y="736600"/>
            <a:ext cx="11049000" cy="10160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 w="19050">
            <a:solidFill>
              <a:srgbClr val="0E7C86"/>
            </a:solidFill>
          </a:ln>
        </p:spPr>
        <p:txBody>
          <a:bodyPr wrap="square" lIns="274320" tIns="91440" rIns="274320" bIns="91440" rtlCol="0" anchor="ctr"/>
          <a:lstStyle/>
          <a:p>
            <a:pPr algn="l">
              <a:buNone/>
            </a:pPr>
            <a:r>
              <a:rPr lang="hu-HU" sz="2000" b="1" dirty="0">
                <a:solidFill>
                  <a:srgbClr val="0F2A43"/>
                </a:solidFill>
                <a:latin typeface="Trebuchet MS"/>
              </a:rPr>
              <a:t>Látja értelmét a Strain Based Dynamics és a VBD kombinációjának?</a:t>
            </a:r>
          </a:p>
        </p:txBody>
      </p:sp>
      <p:sp>
        <p:nvSpPr>
          <p:cNvPr id="3002" name="AnswerCard"/>
          <p:cNvSpPr/>
          <p:nvPr/>
        </p:nvSpPr>
        <p:spPr>
          <a:xfrm>
            <a:off x="571500" y="1930400"/>
            <a:ext cx="11049000" cy="3492500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 w="12700">
            <a:solidFill>
              <a:srgbClr val="E2E9F0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3000" name="BulletBox"/>
          <p:cNvSpPr>
            <a:spLocks noGrp="1"/>
          </p:cNvSpPr>
          <p:nvPr/>
        </p:nvSpPr>
        <p:spPr>
          <a:xfrm>
            <a:off x="889000" y="2070100"/>
            <a:ext cx="104140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rtlCol="0" anchor="ctr"/>
          <a:lstStyle/>
          <a:p>
            <a:pPr algn="l">
              <a:lnSpc>
                <a:spcPts val="2300"/>
              </a:lnSpc>
              <a:spcAft>
                <a:spcPts val="1000"/>
              </a:spcAft>
              <a:buNone/>
            </a:pPr>
            <a:r>
              <a:rPr lang="hu-HU" sz="1700" dirty="0">
                <a:solidFill>
                  <a:srgbClr val="1E2A3A"/>
                </a:solidFill>
                <a:latin typeface="Calibri"/>
              </a:rPr>
              <a:t>A Strain Based Dynamics egy </a:t>
            </a:r>
            <a:r>
              <a:rPr lang="hu-HU" sz="1700" b="1" dirty="0">
                <a:solidFill>
                  <a:srgbClr val="0F2A43"/>
                </a:solidFill>
                <a:latin typeface="Calibri"/>
              </a:rPr>
              <a:t>energia-alapú módszer</a:t>
            </a:r>
            <a:r>
              <a:rPr lang="hu-HU" sz="1700" dirty="0">
                <a:solidFill>
                  <a:srgbClr val="1E2A3A"/>
                </a:solidFill>
                <a:latin typeface="Calibri"/>
              </a:rPr>
              <a:t>: a deformációt távolság-kényszerek helyett a </a:t>
            </a:r>
            <a:r>
              <a:rPr lang="hu-HU" sz="1700" b="1" dirty="0">
                <a:solidFill>
                  <a:srgbClr val="0F2A43"/>
                </a:solidFill>
                <a:latin typeface="Calibri"/>
              </a:rPr>
              <a:t>Green–St. Venant alakváltozási tenzorral</a:t>
            </a:r>
            <a:r>
              <a:rPr lang="hu-HU" sz="1700" dirty="0">
                <a:solidFill>
                  <a:srgbClr val="1E2A3A"/>
                </a:solidFill>
                <a:latin typeface="Calibri"/>
              </a:rPr>
              <a:t> írja le (eredetileg XPBD-vel kidolgozva).</a:t>
            </a:r>
          </a:p>
          <a:p>
            <a:pPr algn="l">
              <a:lnSpc>
                <a:spcPts val="2300"/>
              </a:lnSpc>
              <a:spcAft>
                <a:spcPts val="1000"/>
              </a:spcAft>
              <a:buNone/>
            </a:pPr>
            <a:r>
              <a:rPr lang="hu-HU" sz="1700" b="1" dirty="0">
                <a:solidFill>
                  <a:srgbClr val="0E7C86"/>
                </a:solidFill>
                <a:latin typeface="Calibri"/>
              </a:rPr>
              <a:t>Van értelme a kombinációnak. </a:t>
            </a:r>
            <a:r>
              <a:rPr lang="hu-HU" sz="1700" dirty="0">
                <a:solidFill>
                  <a:srgbClr val="1E2A3A"/>
                </a:solidFill>
                <a:latin typeface="Calibri"/>
              </a:rPr>
              <a:t>A szakdolgozatban is megfigyeltem, hogy az energia-alapú modellek tovább kedvezhetnek a VBD-nek.</a:t>
            </a:r>
          </a:p>
          <a:p>
            <a:pPr algn="l">
              <a:lnSpc>
                <a:spcPts val="2300"/>
              </a:lnSpc>
              <a:spcAft>
                <a:spcPts val="1000"/>
              </a:spcAft>
              <a:buNone/>
            </a:pPr>
            <a:r>
              <a:rPr lang="hu-HU" sz="1700" dirty="0">
                <a:solidFill>
                  <a:srgbClr val="1E2A3A"/>
                </a:solidFill>
                <a:latin typeface="Calibri"/>
              </a:rPr>
              <a:t>Ezt jól mutatja, hogy az eredeti VBD-cikk a ruhák modellezéséhez a </a:t>
            </a:r>
            <a:r>
              <a:rPr lang="hu-HU" sz="1700" b="1" dirty="0">
                <a:solidFill>
                  <a:srgbClr val="0F2A43"/>
                </a:solidFill>
                <a:latin typeface="Calibri"/>
              </a:rPr>
              <a:t>Saint Venant–Kirchhoff modellt</a:t>
            </a:r>
            <a:r>
              <a:rPr lang="hu-HU" sz="1700" dirty="0">
                <a:solidFill>
                  <a:srgbClr val="1E2A3A"/>
                </a:solidFill>
                <a:latin typeface="Calibri"/>
              </a:rPr>
              <a:t> használja — ami épp ezt a tenzort valósítja meg.</a:t>
            </a:r>
          </a:p>
        </p:txBody>
      </p:sp>
      <p:sp>
        <p:nvSpPr>
          <p:cNvPr id="3001" name="Conclusion"/>
          <p:cNvSpPr>
            <a:spLocks noGrp="1"/>
          </p:cNvSpPr>
          <p:nvPr/>
        </p:nvSpPr>
        <p:spPr>
          <a:xfrm>
            <a:off x="571500" y="5588000"/>
            <a:ext cx="11049000" cy="7620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9050">
            <a:solidFill>
              <a:srgbClr val="0E7C86"/>
            </a:solidFill>
          </a:ln>
        </p:spPr>
        <p:txBody>
          <a:bodyPr wrap="square" lIns="342900" tIns="114300" rIns="342900" bIns="114300" rtlCol="0" anchor="ctr"/>
          <a:lstStyle/>
          <a:p>
            <a:pPr algn="l">
              <a:buNone/>
            </a:pPr>
            <a:r>
              <a:rPr lang="hu-HU" sz="2000" b="1" dirty="0">
                <a:solidFill>
                  <a:srgbClr val="FFFFFF"/>
                </a:solidFill>
                <a:latin typeface="Trebuchet MS" pitchFamily="34" charset="0"/>
              </a:rPr>
              <a:t>→ Igenis van értelme.</a:t>
            </a:r>
          </a:p>
        </p:txBody>
      </p:sp>
      <p:sp>
        <p:nvSpPr>
          <p:cNvPr id="3003" name="FooterL"/>
          <p:cNvSpPr/>
          <p:nvPr/>
        </p:nvSpPr>
        <p:spPr>
          <a:xfrm>
            <a:off x="571500" y="6451600"/>
            <a:ext cx="5486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hu-HU" sz="900" dirty="0">
                <a:solidFill>
                  <a:srgbClr val="8C9AA8"/>
                </a:solidFill>
                <a:latin typeface="Calibri"/>
              </a:rPr>
              <a:t>Biró Márton  ·  XPBD vs. VBD</a:t>
            </a:r>
          </a:p>
        </p:txBody>
      </p:sp>
      <p:sp>
        <p:nvSpPr>
          <p:cNvPr id="3004" name="PageNum"/>
          <p:cNvSpPr/>
          <p:nvPr/>
        </p:nvSpPr>
        <p:spPr>
          <a:xfrm>
            <a:off x="10528300" y="6451600"/>
            <a:ext cx="1092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hu-HU" sz="950" b="1" dirty="0">
                <a:solidFill>
                  <a:srgbClr val="0E7C86"/>
                </a:solidFill>
                <a:latin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586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1104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BÍRÁLÓI KÉRDÉS · </a:t>
            </a:r>
            <a:r>
              <a:rPr lang="hu-HU" sz="130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b="1" kern="0" spc="300" dirty="0">
              <a:solidFill>
                <a:srgbClr val="5BB8C4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1500" y="711200"/>
            <a:ext cx="11049000" cy="12700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 w="19050">
            <a:solidFill>
              <a:srgbClr val="0E7C86"/>
            </a:solidFill>
          </a:ln>
        </p:spPr>
        <p:txBody>
          <a:bodyPr wrap="square" lIns="274320" tIns="91440" rIns="274320" bIns="91440" rtlCol="0" anchor="ctr"/>
          <a:lstStyle/>
          <a:p>
            <a:pPr algn="l">
              <a:lnSpc>
                <a:spcPts val="2100"/>
              </a:lnSpc>
              <a:buNone/>
            </a:pPr>
            <a:r>
              <a:rPr lang="hu-HU" sz="1800" b="1" dirty="0">
                <a:solidFill>
                  <a:srgbClr val="0F2A43"/>
                </a:solidFill>
                <a:latin typeface="Trebuchet MS"/>
              </a:rPr>
              <a:t>Ha egy homogén lágy testben azonos tömegű pontok azonos merevségű kényszerekkel vannak összekötve, ráadásul egy tércentrált kockarácsba szervezve, melyik módszert javasolná GPU implementációra?</a:t>
            </a:r>
          </a:p>
        </p:txBody>
      </p:sp>
      <p:pic>
        <p:nvPicPr>
          <p:cNvPr id="2052" name="Picture 4" descr="bcc unit cell">
            <a:extLst>
              <a:ext uri="{FF2B5EF4-FFF2-40B4-BE49-F238E27FC236}">
                <a16:creationId xmlns:a16="http://schemas.microsoft.com/office/drawing/2014/main" id="{7C9FF547-9D4F-7604-3569-E74AE71D88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33"/>
          <a:stretch>
            <a:fillRect/>
          </a:stretch>
        </p:blipFill>
        <p:spPr bwMode="auto">
          <a:xfrm>
            <a:off x="6557175" y="2520043"/>
            <a:ext cx="2595549" cy="23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02" name="AnswerCard"/>
          <p:cNvSpPr/>
          <p:nvPr/>
        </p:nvSpPr>
        <p:spPr>
          <a:xfrm>
            <a:off x="571500" y="2133600"/>
            <a:ext cx="5588000" cy="3327400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 w="12700">
            <a:solidFill>
              <a:srgbClr val="E2E9F0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3000" name="BulletBox"/>
          <p:cNvSpPr>
            <a:spLocks noGrp="1"/>
          </p:cNvSpPr>
          <p:nvPr/>
        </p:nvSpPr>
        <p:spPr>
          <a:xfrm>
            <a:off x="685800" y="2171700"/>
            <a:ext cx="53594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rtlCol="0" anchor="ctr"/>
          <a:lstStyle/>
          <a:p>
            <a:pPr marL="357188" indent="-357188">
              <a:lnSpc>
                <a:spcPts val="185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hu-HU" sz="1600" dirty="0">
                <a:solidFill>
                  <a:srgbClr val="0F2A43"/>
                </a:solidFill>
                <a:latin typeface="Calibri"/>
              </a:rPr>
              <a:t>Azonos tömeg + merevség → mindkét solver gyengepontja kizárva</a:t>
            </a:r>
          </a:p>
          <a:p>
            <a:pPr marL="357188" indent="-357188">
              <a:lnSpc>
                <a:spcPts val="185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hu-HU" sz="1600" dirty="0">
                <a:solidFill>
                  <a:srgbClr val="0F2A43"/>
                </a:solidFill>
                <a:latin typeface="Calibri"/>
              </a:rPr>
              <a:t>Döntő szempont: párhuzamosíthatóság</a:t>
            </a:r>
          </a:p>
          <a:p>
            <a:pPr marL="357188" indent="-357188">
              <a:lnSpc>
                <a:spcPts val="185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hu-HU" sz="1600" dirty="0">
                <a:solidFill>
                  <a:srgbClr val="0F2A43"/>
                </a:solidFill>
                <a:latin typeface="Calibri"/>
              </a:rPr>
              <a:t>BCC rács 2-szinezhető → pontok fele egyszerre futhat</a:t>
            </a:r>
          </a:p>
          <a:p>
            <a:pPr marL="357188" indent="-357188">
              <a:lnSpc>
                <a:spcPts val="185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hu-HU" sz="1600" dirty="0">
                <a:solidFill>
                  <a:srgbClr val="0F2A43"/>
                </a:solidFill>
                <a:latin typeface="Calibri"/>
              </a:rPr>
              <a:t>Élszínezéshez 8 szín kell → XPBD rosszabb arányban</a:t>
            </a:r>
          </a:p>
          <a:p>
            <a:pPr marL="357188" indent="-357188">
              <a:lnSpc>
                <a:spcPts val="185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hu-HU" sz="1600" dirty="0">
                <a:solidFill>
                  <a:srgbClr val="0F2A43"/>
                </a:solidFill>
                <a:latin typeface="Calibri"/>
              </a:rPr>
              <a:t>Összeköttetések &gt; csúcsok → VBD irányba billent</a:t>
            </a:r>
          </a:p>
        </p:txBody>
      </p:sp>
      <p:sp>
        <p:nvSpPr>
          <p:cNvPr id="3001" name="Conclusion"/>
          <p:cNvSpPr>
            <a:spLocks noGrp="1"/>
          </p:cNvSpPr>
          <p:nvPr/>
        </p:nvSpPr>
        <p:spPr>
          <a:xfrm>
            <a:off x="571500" y="5588000"/>
            <a:ext cx="11049000" cy="7620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9050">
            <a:solidFill>
              <a:srgbClr val="0E7C86"/>
            </a:solidFill>
          </a:ln>
        </p:spPr>
        <p:txBody>
          <a:bodyPr wrap="square" lIns="342900" tIns="114300" rIns="342900" bIns="114300" rtlCol="0" anchor="ctr"/>
          <a:lstStyle/>
          <a:p>
            <a:pPr algn="l">
              <a:buNone/>
            </a:pPr>
            <a:r>
              <a:rPr lang="hu-HU" sz="2000" b="1" dirty="0">
                <a:solidFill>
                  <a:srgbClr val="FFFFFF"/>
                </a:solidFill>
                <a:latin typeface="Trebuchet MS" pitchFamily="34" charset="0"/>
              </a:rPr>
              <a:t>→ Egyértelműen a VBD.</a:t>
            </a:r>
          </a:p>
        </p:txBody>
      </p:sp>
      <p:pic>
        <p:nvPicPr>
          <p:cNvPr id="3074" name="Picture 2" descr="Rendering of the BCC strut-based lattice structure. | Download Scientific  Diagram">
            <a:extLst>
              <a:ext uri="{FF2B5EF4-FFF2-40B4-BE49-F238E27FC236}">
                <a16:creationId xmlns:a16="http://schemas.microsoft.com/office/drawing/2014/main" id="{047E4A17-C78B-D682-513D-87204CB6E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2260599"/>
            <a:ext cx="2080857" cy="284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03" name="FooterL"/>
          <p:cNvSpPr/>
          <p:nvPr/>
        </p:nvSpPr>
        <p:spPr>
          <a:xfrm>
            <a:off x="571500" y="6451600"/>
            <a:ext cx="5486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hu-HU" sz="900" dirty="0">
                <a:solidFill>
                  <a:srgbClr val="8C9AA8"/>
                </a:solidFill>
                <a:latin typeface="Calibri"/>
              </a:rPr>
              <a:t>Biró Márton  ·  XPBD vs. VBD</a:t>
            </a:r>
          </a:p>
        </p:txBody>
      </p:sp>
      <p:sp>
        <p:nvSpPr>
          <p:cNvPr id="3004" name="PageNum"/>
          <p:cNvSpPr/>
          <p:nvPr/>
        </p:nvSpPr>
        <p:spPr>
          <a:xfrm>
            <a:off x="10528300" y="6451600"/>
            <a:ext cx="1092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hu-HU" sz="950" b="1" dirty="0">
                <a:solidFill>
                  <a:srgbClr val="0E7C86"/>
                </a:solidFill>
                <a:latin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3418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8B9A16-089E-45A5-9B5A-351A8C0D0A7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6ae1207-659b-4423-8b6c-451543b41d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2629</TotalTime>
  <Words>2740</Words>
  <Application>Microsoft Office PowerPoint</Application>
  <PresentationFormat>Szélesvásznú</PresentationFormat>
  <Paragraphs>254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Valós idejű fizikai szimuláció algoritmusai</dc:title>
  <dc:subject>PptxGenJS Presentation</dc:subject>
  <dc:creator>Biró Márton</dc:creator>
  <cp:lastModifiedBy>Márton Biró</cp:lastModifiedBy>
  <cp:revision>94</cp:revision>
  <dcterms:created xsi:type="dcterms:W3CDTF">2026-06-03T07:09:18Z</dcterms:created>
  <dcterms:modified xsi:type="dcterms:W3CDTF">2026-06-24T07:00:33Z</dcterms:modified>
</cp:coreProperties>
</file>